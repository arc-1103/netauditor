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IN" sz="800" b="0" i="0" u="none" strike="noStrike">
                <a:solidFill>
                  <a:srgbClr val="1B2A4A"/>
                </a:solidFill>
                <a:latin typeface="Calibri"/>
              </a:rPr>
              <a:t>CERT-In empanelled audits, 2024–25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Audits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BFSI</c:v>
                </c:pt>
                <c:pt idx="1">
                  <c:v>Power</c:v>
                </c:pt>
                <c:pt idx="2">
                  <c:v>Transport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7547</c:v>
                </c:pt>
                <c:pt idx="1">
                  <c:v>1579</c:v>
                </c:pt>
                <c:pt idx="2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0E-42AE-8DB0-2B6BCECA13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to remember: the model never decides anything — it turns vendor CLI into a validated JSON object, and a versioned policy engine makes every compliance call. Every number in the facts strip is sourced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stack aloud. Walk the U-shaped flow: in at the top left, across the hard boundary only as schema-valid JSON, back out at the bottom left as a report. Amber badges are the v2 changes from our architecture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challenges with the mitigation already in the design, then what is built and the 12-week plan. Row 5 is the honest one: grammar constraints bound structure, not semantics, so it is mitigated, not closed. Right: security posture, who uses it, and why it is viable in India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claims are structural properties of the architecture, not benchmark results. Do not claim a speed multiplier: we have not measured one against a baseline. Alumni engagement is a plan; fill in names only once people have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citation has been checked; one wrong reference and the jury stops trusting the rest. Research flow: from the problem statement, through the literature and a survey of existing tools, to the design hypothesis and how we will validate it — each step names the papers it draws on. Add the demo video and repo links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3" Type="http://schemas.openxmlformats.org/officeDocument/2006/relationships/hyperlink" Target="https://github.com/networktocode/ntc-templates" TargetMode="External"/><Relationship Id="rId18" Type="http://schemas.openxmlformats.org/officeDocument/2006/relationships/hyperlink" Target="https://github.com/postgres/postgres" TargetMode="External"/><Relationship Id="rId26" Type="http://schemas.openxmlformats.org/officeDocument/2006/relationships/image" Target="../media/image13.jpeg"/><Relationship Id="rId3" Type="http://schemas.openxmlformats.org/officeDocument/2006/relationships/image" Target="../media/image1.png"/><Relationship Id="rId21" Type="http://schemas.openxmlformats.org/officeDocument/2006/relationships/hyperlink" Target="https://github.com/vercel/next.js" TargetMode="External"/><Relationship Id="rId7" Type="http://schemas.openxmlformats.org/officeDocument/2006/relationships/hyperlink" Target="https://github.com/dottxt-ai/outlines" TargetMode="External"/><Relationship Id="rId12" Type="http://schemas.openxmlformats.org/officeDocument/2006/relationships/image" Target="../media/image7.png"/><Relationship Id="rId17" Type="http://schemas.openxmlformats.org/officeDocument/2006/relationships/hyperlink" Target="https://github.com/fastapi/fastapi" TargetMode="External"/><Relationship Id="rId25" Type="http://schemas.openxmlformats.org/officeDocument/2006/relationships/image" Target="../media/image12.png"/><Relationship Id="rId3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github.com/batfish/batfish" TargetMode="External"/><Relationship Id="rId20" Type="http://schemas.openxmlformats.org/officeDocument/2006/relationships/image" Target="../media/image8.png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github.com/google/textfsm" TargetMode="External"/><Relationship Id="rId24" Type="http://schemas.openxmlformats.org/officeDocument/2006/relationships/image" Target="../media/image11.png"/><Relationship Id="rId32" Type="http://schemas.openxmlformats.org/officeDocument/2006/relationships/image" Target="../media/image19.jpeg"/><Relationship Id="rId5" Type="http://schemas.openxmlformats.org/officeDocument/2006/relationships/hyperlink" Target="https://github.com/ollama/ollama" TargetMode="External"/><Relationship Id="rId15" Type="http://schemas.openxmlformats.org/officeDocument/2006/relationships/hyperlink" Target="https://github.com/pallets/jinja" TargetMode="External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hyperlink" Target="https://github.com/minio/minio" TargetMode="External"/><Relationship Id="rId31" Type="http://schemas.openxmlformats.org/officeDocument/2006/relationships/image" Target="../media/image18.png"/><Relationship Id="rId4" Type="http://schemas.openxmlformats.org/officeDocument/2006/relationships/hyperlink" Target="https://github.com/QwenLM/Qwen2.5-Coder" TargetMode="External"/><Relationship Id="rId9" Type="http://schemas.openxmlformats.org/officeDocument/2006/relationships/hyperlink" Target="https://github.com/chroma-core/chroma" TargetMode="External"/><Relationship Id="rId14" Type="http://schemas.openxmlformats.org/officeDocument/2006/relationships/hyperlink" Target="https://github.com/open-policy-agent/opa" TargetMode="External"/><Relationship Id="rId22" Type="http://schemas.openxmlformats.org/officeDocument/2006/relationships/image" Target="../media/image9.png"/><Relationship Id="rId27" Type="http://schemas.openxmlformats.org/officeDocument/2006/relationships/image" Target="../media/image14.png"/><Relationship Id="rId30" Type="http://schemas.openxmlformats.org/officeDocument/2006/relationships/image" Target="../media/image17.png"/><Relationship Id="rId8" Type="http://schemas.openxmlformats.org/officeDocument/2006/relationships/hyperlink" Target="https://github.com/pydantic/pydantic" TargetMode="External"/><Relationship Id="rId34" Type="http://schemas.openxmlformats.org/officeDocument/2006/relationships/image" Target="../media/image_stack_tailwind.png"/><Relationship Id="rId35" Type="http://schemas.openxmlformats.org/officeDocument/2006/relationships/hyperlink" Target="https://github.com/tailwindlabs/tailwindcss" TargetMode="External"/><Relationship Id="rId36" Type="http://schemas.openxmlformats.org/officeDocument/2006/relationships/image" Target="../media/image_stack_weasy.png"/><Relationship Id="rId37" Type="http://schemas.openxmlformats.org/officeDocument/2006/relationships/hyperlink" Target="https://github.com/Kozea/WeasyPrint" TargetMode="External"/><Relationship Id="rId38" Type="http://schemas.openxmlformats.org/officeDocument/2006/relationships/image" Target="../media/image_stack_celery.png"/><Relationship Id="rId39" Type="http://schemas.openxmlformats.org/officeDocument/2006/relationships/hyperlink" Target="https://github.com/celery/celery" TargetMode="External"/><Relationship Id="rId40" Type="http://schemas.openxmlformats.org/officeDocument/2006/relationships/image" Target="../media/image_stack_redis.png"/><Relationship Id="rId41" Type="http://schemas.openxmlformats.org/officeDocument/2006/relationships/hyperlink" Target="https://github.com/redis/redis" TargetMode="External"/><Relationship Id="rId42" Type="http://schemas.openxmlformats.org/officeDocument/2006/relationships/image" Target="../media/image_stack_docker.png"/><Relationship Id="rId43" Type="http://schemas.openxmlformats.org/officeDocument/2006/relationships/hyperlink" Target="https://github.com/docker/compose" TargetMode="External"/><Relationship Id="rId44" Type="http://schemas.openxmlformats.org/officeDocument/2006/relationships/image" Target="../media/image_stack_git.png"/><Relationship Id="rId45" Type="http://schemas.openxmlformats.org/officeDocument/2006/relationships/hyperlink" Target="https://github.com/git/git" TargetMode="External"/><Relationship Id="rId46" Type="http://schemas.openxmlformats.org/officeDocument/2006/relationships/image" Target="../media/image_stack_magic.png"/><Relationship Id="rId47" Type="http://schemas.openxmlformats.org/officeDocument/2006/relationships/hyperlink" Target="https://github.com/ahupp/python-magic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5.png"/><Relationship Id="rId5" Type="http://schemas.openxmlformats.org/officeDocument/2006/relationships/image" Target="../media/image26.png"/><Relationship Id="rId10" Type="http://schemas.openxmlformats.org/officeDocument/2006/relationships/image" Target="../media/image34.png"/><Relationship Id="rId4" Type="http://schemas.openxmlformats.org/officeDocument/2006/relationships/image" Target="../media/image25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n.newsroom.ibm.com/2025-08-07-India-Records-Highest-Average-Cost-of-a-Data-Breach-IBM" TargetMode="External"/><Relationship Id="rId13" Type="http://schemas.openxmlformats.org/officeDocument/2006/relationships/hyperlink" Target="https://public.cyber.mil/stigs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verizon.com/business/resources/reports/2025-dbir-data-breach-investigations-report.pdf" TargetMode="External"/><Relationship Id="rId12" Type="http://schemas.openxmlformats.org/officeDocument/2006/relationships/hyperlink" Target="https://csrc.nist.gov/pubs/sp/800/53/r5/upd1/fina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ib.gov.in/PressReleasePage.aspx?PRID=2217537" TargetMode="External"/><Relationship Id="rId11" Type="http://schemas.openxmlformats.org/officeDocument/2006/relationships/hyperlink" Target="https://www.cisecurity.org/cis-benchmarks" TargetMode="External"/><Relationship Id="rId5" Type="http://schemas.openxmlformats.org/officeDocument/2006/relationships/image" Target="../media/image37.png"/><Relationship Id="rId10" Type="http://schemas.openxmlformats.org/officeDocument/2006/relationships/hyperlink" Target="https://www.business-standard.com/industry/news/cert-in-mandates-annual-cybersecurity-audit-for-public-private-companies-125072700416_1.html" TargetMode="External"/><Relationship Id="rId4" Type="http://schemas.openxmlformats.org/officeDocument/2006/relationships/image" Target="../media/image36.png"/><Relationship Id="rId9" Type="http://schemas.openxmlformats.org/officeDocument/2006/relationships/hyperlink" Target="https://www.cisa.gov/news-events/cybersecurity-advisories/aa23-278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28016"/>
            <a:ext cx="118872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28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No_Talks_IC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TITLE — NETAUDIT ENGINE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IDEA TITLE</a:t>
            </a:r>
            <a:endParaRPr lang="en-US" sz="1000" dirty="0"/>
          </a:p>
        </p:txBody>
      </p:sp>
      <p:pic>
        <p:nvPicPr>
          <p:cNvPr id="6" name="Image 0" descr="sih_log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1440"/>
            <a:ext cx="1572768" cy="7434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6FC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70248" y="6400800"/>
            <a:ext cx="3657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400800"/>
            <a:ext cx="914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6400800"/>
            <a:ext cx="3200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26155 · NetAudit Engine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11480" y="914400"/>
            <a:ext cx="11365992" cy="54864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2700">
            <a:solidFill>
              <a:srgbClr val="B9D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26155</a:t>
            </a: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Multi-Vendor Network Security Compliance Auditor</a:t>
            </a: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Theme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/ Cybersecurity</a:t>
            </a: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Category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ID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No_Talks_IC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1480" y="157276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15" name="Shape 11"/>
          <p:cNvSpPr/>
          <p:nvPr/>
        </p:nvSpPr>
        <p:spPr>
          <a:xfrm>
            <a:off x="466344" y="160020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88" y="1676644"/>
            <a:ext cx="194584" cy="1945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" y="15727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11480" y="20299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DECE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" y="2084832"/>
            <a:ext cx="34015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router, switch and firewall must be audited against CIS, DISA STIG and NIST SP 800-53.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 are multi-vendor — IOS, Junos, PAN-OS, FortiOS, EOS — each a different CLI dialect.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is manual: per device, per framework, by a few senior engineers.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050792" y="2560320"/>
            <a:ext cx="155448" cy="384048"/>
          </a:xfrm>
          <a:prstGeom prst="chevron">
            <a:avLst/>
          </a:prstGeom>
          <a:solidFill>
            <a:srgbClr val="9AA8BC"/>
          </a:solidFill>
          <a:ln/>
        </p:spPr>
      </p:sp>
      <p:sp>
        <p:nvSpPr>
          <p:cNvPr id="21" name="Shape 16"/>
          <p:cNvSpPr/>
          <p:nvPr/>
        </p:nvSpPr>
        <p:spPr>
          <a:xfrm>
            <a:off x="4279392" y="157276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D2601A"/>
          </a:solidFill>
          <a:ln/>
        </p:spPr>
      </p:sp>
      <p:sp>
        <p:nvSpPr>
          <p:cNvPr id="22" name="Shape 17"/>
          <p:cNvSpPr/>
          <p:nvPr/>
        </p:nvSpPr>
        <p:spPr>
          <a:xfrm>
            <a:off x="4334256" y="160020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700" y="1676644"/>
            <a:ext cx="194584" cy="1945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54880" y="15727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PROBLEM EXISTS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79392" y="20299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DF4DF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4370832" y="2084832"/>
            <a:ext cx="34015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findings: same config, different auditor, different answer — not reproducible.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auditors need configs to leave the premises — unacceptable for NTRO / CII.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flag but rarely fix; a careless fix can lock the operator out.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918704" y="2560320"/>
            <a:ext cx="155448" cy="384048"/>
          </a:xfrm>
          <a:prstGeom prst="chevron">
            <a:avLst/>
          </a:prstGeom>
          <a:solidFill>
            <a:srgbClr val="9AA8BC"/>
          </a:solidFill>
          <a:ln/>
        </p:spPr>
      </p:sp>
      <p:sp>
        <p:nvSpPr>
          <p:cNvPr id="28" name="Shape 22"/>
          <p:cNvSpPr/>
          <p:nvPr/>
        </p:nvSpPr>
        <p:spPr>
          <a:xfrm>
            <a:off x="8147304" y="157276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1E8A4C"/>
          </a:solidFill>
          <a:ln/>
        </p:spPr>
      </p:sp>
      <p:sp>
        <p:nvSpPr>
          <p:cNvPr id="29" name="Shape 23"/>
          <p:cNvSpPr/>
          <p:nvPr/>
        </p:nvSpPr>
        <p:spPr>
          <a:xfrm>
            <a:off x="8202168" y="160020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612" y="1676644"/>
            <a:ext cx="194584" cy="1945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622792" y="15727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47304" y="20299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E7F5EC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38744" y="2084832"/>
            <a:ext cx="34015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config in → deterministic, evidence-linked verdict out. Fully air-gapped.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TextFSM + a local SLM only reshape CLI into a validated schema; OPA/Rego makes every pass/fail.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the failing line; every fix is vendor-correct and pre-flight checked.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11480" y="36758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SUPPORTING FACTS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11480" y="3931920"/>
            <a:ext cx="21396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02920" y="395935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29.44 lakh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502920" y="4270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incidents handled by CERT-In in 2025  </a:t>
            </a:r>
            <a:r>
              <a:rPr lang="en-US" sz="7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Jan 2026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2697480" y="3931920"/>
            <a:ext cx="21396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D2601A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2788920" y="395935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2788920" y="4270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exploitation breaches hit edge &amp; VPN devices (up from 3%)  </a:t>
            </a:r>
            <a:r>
              <a:rPr lang="en-US" sz="7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 2025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4983480" y="3931920"/>
            <a:ext cx="21396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5074920" y="395935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~54%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5074920" y="4270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edge / VPN vulnerabilities fully remediated in the year  </a:t>
            </a:r>
            <a:r>
              <a:rPr lang="en-US" sz="7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DBIR 2025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7269480" y="3931920"/>
            <a:ext cx="21396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360920" y="395935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 cr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360920" y="4270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data-breach cost in India, 2025 (+13%)  </a:t>
            </a:r>
            <a:r>
              <a:rPr lang="en-US" sz="7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2025</a:t>
            </a:r>
            <a:endParaRPr lang="en-US" sz="750" dirty="0"/>
          </a:p>
        </p:txBody>
      </p:sp>
      <p:sp>
        <p:nvSpPr>
          <p:cNvPr id="47" name="Shape 40"/>
          <p:cNvSpPr/>
          <p:nvPr/>
        </p:nvSpPr>
        <p:spPr>
          <a:xfrm>
            <a:off x="9555480" y="3931920"/>
            <a:ext cx="21396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9646920" y="395935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9646920" y="4270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"Default configurations" — top misconfiguration (NSA &amp; CISA)  </a:t>
            </a:r>
            <a:r>
              <a:rPr lang="en-US" sz="7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AA23-278A</a:t>
            </a:r>
            <a:endParaRPr lang="en-US" sz="750" dirty="0"/>
          </a:p>
        </p:txBody>
      </p:sp>
      <p:sp>
        <p:nvSpPr>
          <p:cNvPr id="50" name="Shape 43"/>
          <p:cNvSpPr/>
          <p:nvPr/>
        </p:nvSpPr>
        <p:spPr>
          <a:xfrm>
            <a:off x="411480" y="4828032"/>
            <a:ext cx="11365992" cy="1444752"/>
          </a:xfrm>
          <a:prstGeom prst="roundRect">
            <a:avLst>
              <a:gd name="adj" fmla="val 3797"/>
            </a:avLst>
          </a:prstGeom>
          <a:solidFill>
            <a:srgbClr val="F4F7FB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  </a:t>
            </a: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parses, the policy decides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5669280" y="4846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BOUNDARY: only schema-valid JSON crosses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548640" y="519379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585216" y="5193792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configs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Junos · PAN-OS · FortiOS · EOS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files only</a:t>
            </a:r>
            <a:endParaRPr lang="en-US" sz="750" dirty="0"/>
          </a:p>
        </p:txBody>
      </p:sp>
      <p:sp>
        <p:nvSpPr>
          <p:cNvPr id="55" name="Shape 48"/>
          <p:cNvSpPr/>
          <p:nvPr/>
        </p:nvSpPr>
        <p:spPr>
          <a:xfrm>
            <a:off x="1938528" y="5669280"/>
            <a:ext cx="219456" cy="914"/>
          </a:xfrm>
          <a:prstGeom prst="line">
            <a:avLst/>
          </a:prstGeom>
          <a:noFill/>
          <a:ln w="22225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56" name="Shape 49"/>
          <p:cNvSpPr/>
          <p:nvPr/>
        </p:nvSpPr>
        <p:spPr>
          <a:xfrm>
            <a:off x="2194560" y="5138928"/>
            <a:ext cx="3310128" cy="1069848"/>
          </a:xfrm>
          <a:prstGeom prst="roundRect">
            <a:avLst>
              <a:gd name="adj" fmla="val 4274"/>
            </a:avLst>
          </a:prstGeom>
          <a:ln w="12700">
            <a:solidFill>
              <a:srgbClr val="A77BD6"/>
            </a:solidFill>
            <a:prstDash val="dash"/>
          </a:ln>
        </p:spPr>
      </p:sp>
      <p:sp>
        <p:nvSpPr>
          <p:cNvPr id="57" name="Shape 50"/>
          <p:cNvSpPr/>
          <p:nvPr/>
        </p:nvSpPr>
        <p:spPr>
          <a:xfrm>
            <a:off x="2286000" y="5257800"/>
            <a:ext cx="1499616" cy="841248"/>
          </a:xfrm>
          <a:prstGeom prst="roundRect">
            <a:avLst>
              <a:gd name="adj" fmla="val 6522"/>
            </a:avLst>
          </a:prstGeom>
          <a:solidFill>
            <a:srgbClr val="E4EF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2340864" y="5303520"/>
            <a:ext cx="13898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TextFSM / NTC</a:t>
            </a:r>
            <a:endParaRPr lang="en-US" sz="850" dirty="0"/>
          </a:p>
        </p:txBody>
      </p:sp>
      <p:sp>
        <p:nvSpPr>
          <p:cNvPr id="59" name="Text 52"/>
          <p:cNvSpPr txBox="1"/>
          <p:nvPr/>
        </p:nvSpPr>
        <p:spPr>
          <a:xfrm>
            <a:off x="2340864" y="5577840"/>
            <a:ext cx="13898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+ known dialects</a:t>
            </a:r>
            <a:endParaRPr lang="en-US" sz="750" dirty="0"/>
          </a:p>
        </p:txBody>
      </p:sp>
      <p:sp>
        <p:nvSpPr>
          <p:cNvPr id="60" name="Shape 53"/>
          <p:cNvSpPr/>
          <p:nvPr/>
        </p:nvSpPr>
        <p:spPr>
          <a:xfrm>
            <a:off x="3913632" y="5257800"/>
            <a:ext cx="1499616" cy="841248"/>
          </a:xfrm>
          <a:prstGeom prst="roundRect">
            <a:avLst>
              <a:gd name="adj" fmla="val 6522"/>
            </a:avLst>
          </a:prstGeom>
          <a:solidFill>
            <a:srgbClr val="F0E9F8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3968496" y="5303520"/>
            <a:ext cx="13898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SLM</a:t>
            </a:r>
            <a:endParaRPr lang="en-US" sz="850" dirty="0"/>
          </a:p>
        </p:txBody>
      </p:sp>
      <p:sp>
        <p:nvSpPr>
          <p:cNvPr id="62" name="Text 55"/>
          <p:cNvSpPr txBox="1"/>
          <p:nvPr/>
        </p:nvSpPr>
        <p:spPr>
          <a:xfrm>
            <a:off x="3968496" y="5577840"/>
            <a:ext cx="138988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Qwen2.5-Coder-7B + Outlines grammar</a:t>
            </a:r>
            <a:endParaRPr lang="en-US" sz="750" dirty="0"/>
          </a:p>
        </p:txBody>
      </p:sp>
      <p:sp>
        <p:nvSpPr>
          <p:cNvPr id="63" name="Text 56"/>
          <p:cNvSpPr txBox="1"/>
          <p:nvPr/>
        </p:nvSpPr>
        <p:spPr>
          <a:xfrm>
            <a:off x="3776472" y="553212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5532120" y="5669280"/>
            <a:ext cx="256032" cy="914"/>
          </a:xfrm>
          <a:prstGeom prst="line">
            <a:avLst/>
          </a:prstGeom>
          <a:noFill/>
          <a:ln w="22225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65" name="Shape 58"/>
          <p:cNvSpPr/>
          <p:nvPr/>
        </p:nvSpPr>
        <p:spPr>
          <a:xfrm>
            <a:off x="5897880" y="5138928"/>
            <a:ext cx="914" cy="1078992"/>
          </a:xfrm>
          <a:prstGeom prst="line">
            <a:avLst/>
          </a:prstGeom>
          <a:noFill/>
          <a:ln w="28575">
            <a:solidFill>
              <a:srgbClr val="E0A21B"/>
            </a:solidFill>
            <a:prstDash val="dash"/>
          </a:ln>
        </p:spPr>
      </p:sp>
      <p:sp>
        <p:nvSpPr>
          <p:cNvPr id="66" name="Shape 59"/>
          <p:cNvSpPr/>
          <p:nvPr/>
        </p:nvSpPr>
        <p:spPr>
          <a:xfrm>
            <a:off x="5989320" y="5669280"/>
            <a:ext cx="256032" cy="914"/>
          </a:xfrm>
          <a:prstGeom prst="line">
            <a:avLst/>
          </a:prstGeom>
          <a:noFill/>
          <a:ln w="22225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67" name="Shape 60"/>
          <p:cNvSpPr/>
          <p:nvPr/>
        </p:nvSpPr>
        <p:spPr>
          <a:xfrm>
            <a:off x="6281928" y="5138928"/>
            <a:ext cx="5376672" cy="1069848"/>
          </a:xfrm>
          <a:prstGeom prst="roundRect">
            <a:avLst>
              <a:gd name="adj" fmla="val 4274"/>
            </a:avLst>
          </a:prstGeom>
          <a:ln w="12700">
            <a:solidFill>
              <a:srgbClr val="5FC48A"/>
            </a:solidFill>
            <a:prstDash val="dash"/>
          </a:ln>
        </p:spPr>
      </p:sp>
      <p:sp>
        <p:nvSpPr>
          <p:cNvPr id="68" name="Shape 61"/>
          <p:cNvSpPr/>
          <p:nvPr/>
        </p:nvSpPr>
        <p:spPr>
          <a:xfrm>
            <a:off x="6373368" y="525780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E0F3F4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6428232" y="5303520"/>
            <a:ext cx="1261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gate</a:t>
            </a:r>
            <a:endParaRPr lang="en-US" sz="850" dirty="0"/>
          </a:p>
        </p:txBody>
      </p:sp>
      <p:sp>
        <p:nvSpPr>
          <p:cNvPr id="70" name="Text 63"/>
          <p:cNvSpPr txBox="1"/>
          <p:nvPr/>
        </p:nvSpPr>
        <p:spPr>
          <a:xfrm>
            <a:off x="6428232" y="5577840"/>
            <a:ext cx="12618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v2; invalid → quarantine</a:t>
            </a:r>
            <a:endParaRPr lang="en-US" sz="750" dirty="0"/>
          </a:p>
        </p:txBody>
      </p:sp>
      <p:sp>
        <p:nvSpPr>
          <p:cNvPr id="71" name="Shape 64"/>
          <p:cNvSpPr/>
          <p:nvPr/>
        </p:nvSpPr>
        <p:spPr>
          <a:xfrm>
            <a:off x="7763256" y="5669280"/>
            <a:ext cx="155448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72" name="Shape 65"/>
          <p:cNvSpPr/>
          <p:nvPr/>
        </p:nvSpPr>
        <p:spPr>
          <a:xfrm>
            <a:off x="7936992" y="525780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E5F5EB"/>
          </a:solidFill>
          <a:ln w="15875">
            <a:solidFill>
              <a:srgbClr val="1E8A4C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7991856" y="5303520"/>
            <a:ext cx="1261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/ Rego</a:t>
            </a:r>
            <a:endParaRPr lang="en-US" sz="850" dirty="0"/>
          </a:p>
        </p:txBody>
      </p:sp>
      <p:sp>
        <p:nvSpPr>
          <p:cNvPr id="74" name="Text 67"/>
          <p:cNvSpPr txBox="1"/>
          <p:nvPr/>
        </p:nvSpPr>
        <p:spPr>
          <a:xfrm>
            <a:off x="7991856" y="5577840"/>
            <a:ext cx="12618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source of pass/fail</a:t>
            </a:r>
            <a:endParaRPr lang="en-US" sz="750" dirty="0"/>
          </a:p>
        </p:txBody>
      </p:sp>
      <p:sp>
        <p:nvSpPr>
          <p:cNvPr id="75" name="Shape 68"/>
          <p:cNvSpPr/>
          <p:nvPr/>
        </p:nvSpPr>
        <p:spPr>
          <a:xfrm>
            <a:off x="9326880" y="5669280"/>
            <a:ext cx="155448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76" name="Shape 69"/>
          <p:cNvSpPr/>
          <p:nvPr/>
        </p:nvSpPr>
        <p:spPr>
          <a:xfrm>
            <a:off x="9500616" y="5230368"/>
            <a:ext cx="2084832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1E8A4C"/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9555480" y="5230368"/>
            <a:ext cx="19933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FINDING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status · severity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line (secrets masked)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SHA-256 · bundle ver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28016"/>
            <a:ext cx="118872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28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No_Talks_IC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— STACK &amp; PROCESS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TECHNICAL APPROACH</a:t>
            </a:r>
            <a:endParaRPr lang="en-US" sz="1000" dirty="0"/>
          </a:p>
        </p:txBody>
      </p:sp>
      <p:pic>
        <p:nvPicPr>
          <p:cNvPr id="6" name="Image 0" descr="sih_log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1440"/>
            <a:ext cx="1572768" cy="7434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6FC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70248" y="6400800"/>
            <a:ext cx="3657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400800"/>
            <a:ext cx="914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6400800"/>
            <a:ext cx="3200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26155 · NetAudit Engine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6752844" y="1170432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Qwen2.5-Coder-7B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6752844" y="1344168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QwenLM/Qwen2.5-Coder</a:t>
            </a:r>
            <a:endParaRPr lang="en-US" sz="650" dirty="0"/>
          </a:p>
        </p:txBody>
      </p:sp>
      <p:sp>
        <p:nvSpPr>
          <p:cNvPr id="23" name="Text 17"/>
          <p:cNvSpPr txBox="1"/>
          <p:nvPr/>
        </p:nvSpPr>
        <p:spPr>
          <a:xfrm>
            <a:off x="6752844" y="1527048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6752844" y="1700784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ollama/ollama</a:t>
            </a:r>
            <a:endParaRPr lang="en-US" sz="650" dirty="0"/>
          </a:p>
        </p:txBody>
      </p:sp>
      <p:sp>
        <p:nvSpPr>
          <p:cNvPr id="26" name="Shape 20"/>
          <p:cNvSpPr/>
          <p:nvPr/>
        </p:nvSpPr>
        <p:spPr>
          <a:xfrm>
            <a:off x="6277356" y="1901952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729" y="1966325"/>
            <a:ext cx="163860" cy="1638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752844" y="1883664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6752844" y="2057400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dottxt-ai/outlines</a:t>
            </a:r>
            <a:endParaRPr lang="en-US" sz="650" dirty="0"/>
          </a:p>
        </p:txBody>
      </p:sp>
      <p:sp>
        <p:nvSpPr>
          <p:cNvPr id="33" name="Text 25"/>
          <p:cNvSpPr txBox="1"/>
          <p:nvPr/>
        </p:nvSpPr>
        <p:spPr>
          <a:xfrm>
            <a:off x="6752844" y="2240280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6752844" y="2414016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pydantic/pydantic</a:t>
            </a:r>
            <a:endParaRPr lang="en-US" sz="650" dirty="0"/>
          </a:p>
        </p:txBody>
      </p:sp>
      <p:sp>
        <p:nvSpPr>
          <p:cNvPr id="38" name="Text 29"/>
          <p:cNvSpPr txBox="1"/>
          <p:nvPr/>
        </p:nvSpPr>
        <p:spPr>
          <a:xfrm>
            <a:off x="4858512" y="1883664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50" dirty="0"/>
          </a:p>
        </p:txBody>
      </p:sp>
      <p:sp>
        <p:nvSpPr>
          <p:cNvPr id="39" name="Text 30"/>
          <p:cNvSpPr txBox="1"/>
          <p:nvPr/>
        </p:nvSpPr>
        <p:spPr>
          <a:xfrm>
            <a:off x="4858512" y="2057400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chroma-core/chroma</a:t>
            </a:r>
            <a:endParaRPr lang="en-US" sz="650" dirty="0"/>
          </a:p>
        </p:txBody>
      </p:sp>
      <p:sp>
        <p:nvSpPr>
          <p:cNvPr id="41" name="Shape 32"/>
          <p:cNvSpPr/>
          <p:nvPr/>
        </p:nvSpPr>
        <p:spPr>
          <a:xfrm>
            <a:off x="8171688" y="1188720"/>
            <a:ext cx="292608" cy="292608"/>
          </a:xfrm>
          <a:prstGeom prst="ellipse">
            <a:avLst/>
          </a:prstGeom>
          <a:solidFill>
            <a:srgbClr val="1E8A4C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6061" y="1253093"/>
            <a:ext cx="163860" cy="16386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647176" y="1170432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TextFSM</a:t>
            </a:r>
            <a:endParaRPr lang="en-US" sz="850" dirty="0"/>
          </a:p>
        </p:txBody>
      </p:sp>
      <p:sp>
        <p:nvSpPr>
          <p:cNvPr id="44" name="Text 34"/>
          <p:cNvSpPr txBox="1"/>
          <p:nvPr/>
        </p:nvSpPr>
        <p:spPr>
          <a:xfrm>
            <a:off x="8647176" y="1344168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google/textfsm</a:t>
            </a:r>
            <a:endParaRPr lang="en-US" sz="650" dirty="0"/>
          </a:p>
        </p:txBody>
      </p:sp>
      <p:sp>
        <p:nvSpPr>
          <p:cNvPr id="46" name="Shape 36"/>
          <p:cNvSpPr/>
          <p:nvPr/>
        </p:nvSpPr>
        <p:spPr>
          <a:xfrm>
            <a:off x="8171688" y="1545336"/>
            <a:ext cx="292608" cy="292608"/>
          </a:xfrm>
          <a:prstGeom prst="ellipse">
            <a:avLst/>
          </a:prstGeom>
          <a:solidFill>
            <a:srgbClr val="1E8A4C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6061" y="1609709"/>
            <a:ext cx="163860" cy="16386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647176" y="1527048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NTC-Templates</a:t>
            </a:r>
            <a:endParaRPr lang="en-US" sz="850" dirty="0"/>
          </a:p>
        </p:txBody>
      </p:sp>
      <p:sp>
        <p:nvSpPr>
          <p:cNvPr id="49" name="Text 38"/>
          <p:cNvSpPr txBox="1"/>
          <p:nvPr/>
        </p:nvSpPr>
        <p:spPr>
          <a:xfrm>
            <a:off x="8647176" y="1700784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networktocode/ntc-templates</a:t>
            </a:r>
            <a:endParaRPr lang="en-US" sz="650" dirty="0"/>
          </a:p>
        </p:txBody>
      </p:sp>
      <p:sp>
        <p:nvSpPr>
          <p:cNvPr id="53" name="Text 41"/>
          <p:cNvSpPr txBox="1"/>
          <p:nvPr/>
        </p:nvSpPr>
        <p:spPr>
          <a:xfrm>
            <a:off x="8647176" y="1883664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 Agent</a:t>
            </a:r>
            <a:endParaRPr lang="en-US" sz="850" dirty="0"/>
          </a:p>
        </p:txBody>
      </p:sp>
      <p:sp>
        <p:nvSpPr>
          <p:cNvPr id="54" name="Text 42"/>
          <p:cNvSpPr txBox="1"/>
          <p:nvPr/>
        </p:nvSpPr>
        <p:spPr>
          <a:xfrm>
            <a:off x="8647176" y="2057400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open-policy-agent/opa</a:t>
            </a:r>
            <a:endParaRPr lang="en-US" sz="650" dirty="0"/>
          </a:p>
        </p:txBody>
      </p:sp>
      <p:sp>
        <p:nvSpPr>
          <p:cNvPr id="58" name="Text 45"/>
          <p:cNvSpPr txBox="1"/>
          <p:nvPr/>
        </p:nvSpPr>
        <p:spPr>
          <a:xfrm>
            <a:off x="8647176" y="2240280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(sandboxed)</a:t>
            </a:r>
            <a:endParaRPr lang="en-US" sz="850" dirty="0"/>
          </a:p>
        </p:txBody>
      </p:sp>
      <p:sp>
        <p:nvSpPr>
          <p:cNvPr id="59" name="Text 46"/>
          <p:cNvSpPr txBox="1"/>
          <p:nvPr/>
        </p:nvSpPr>
        <p:spPr>
          <a:xfrm>
            <a:off x="8647176" y="2414016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pallets/jinja</a:t>
            </a:r>
            <a:endParaRPr lang="en-US" sz="650" dirty="0"/>
          </a:p>
        </p:txBody>
      </p:sp>
      <p:sp>
        <p:nvSpPr>
          <p:cNvPr id="63" name="Text 49"/>
          <p:cNvSpPr txBox="1"/>
          <p:nvPr/>
        </p:nvSpPr>
        <p:spPr>
          <a:xfrm>
            <a:off x="10541508" y="1170432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Batfish</a:t>
            </a:r>
            <a:endParaRPr lang="en-US" sz="850" dirty="0"/>
          </a:p>
        </p:txBody>
      </p:sp>
      <p:sp>
        <p:nvSpPr>
          <p:cNvPr id="64" name="Text 50"/>
          <p:cNvSpPr txBox="1"/>
          <p:nvPr/>
        </p:nvSpPr>
        <p:spPr>
          <a:xfrm>
            <a:off x="10541508" y="1344168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batfish/batfish</a:t>
            </a:r>
            <a:endParaRPr lang="en-US" sz="650" dirty="0"/>
          </a:p>
        </p:txBody>
      </p:sp>
      <p:sp>
        <p:nvSpPr>
          <p:cNvPr id="68" name="Text 53"/>
          <p:cNvSpPr txBox="1"/>
          <p:nvPr/>
        </p:nvSpPr>
        <p:spPr>
          <a:xfrm>
            <a:off x="2964180" y="1170432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</p:txBody>
      </p:sp>
      <p:sp>
        <p:nvSpPr>
          <p:cNvPr id="69" name="Text 54"/>
          <p:cNvSpPr txBox="1"/>
          <p:nvPr/>
        </p:nvSpPr>
        <p:spPr>
          <a:xfrm>
            <a:off x="2964180" y="1344168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fastapi/fastapi</a:t>
            </a:r>
            <a:endParaRPr lang="en-US" sz="650" dirty="0"/>
          </a:p>
        </p:txBody>
      </p:sp>
      <p:sp>
        <p:nvSpPr>
          <p:cNvPr id="73" name="Text 57"/>
          <p:cNvSpPr txBox="1"/>
          <p:nvPr/>
        </p:nvSpPr>
        <p:spPr>
          <a:xfrm>
            <a:off x="4858512" y="1170432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850" dirty="0"/>
          </a:p>
        </p:txBody>
      </p:sp>
      <p:sp>
        <p:nvSpPr>
          <p:cNvPr id="74" name="Text 58"/>
          <p:cNvSpPr txBox="1"/>
          <p:nvPr/>
        </p:nvSpPr>
        <p:spPr>
          <a:xfrm>
            <a:off x="4858512" y="1344168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postgres/postgres</a:t>
            </a:r>
            <a:endParaRPr lang="en-US" sz="650" dirty="0"/>
          </a:p>
        </p:txBody>
      </p:sp>
      <p:sp>
        <p:nvSpPr>
          <p:cNvPr id="78" name="Text 61"/>
          <p:cNvSpPr txBox="1"/>
          <p:nvPr/>
        </p:nvSpPr>
        <p:spPr>
          <a:xfrm>
            <a:off x="4858512" y="1527048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850" dirty="0"/>
          </a:p>
        </p:txBody>
      </p:sp>
      <p:sp>
        <p:nvSpPr>
          <p:cNvPr id="79" name="Text 62"/>
          <p:cNvSpPr txBox="1"/>
          <p:nvPr/>
        </p:nvSpPr>
        <p:spPr>
          <a:xfrm>
            <a:off x="4858512" y="1700784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minio/minio</a:t>
            </a:r>
            <a:endParaRPr lang="en-US" sz="650" dirty="0"/>
          </a:p>
        </p:txBody>
      </p:sp>
      <p:sp>
        <p:nvSpPr>
          <p:cNvPr id="81" name="Shape 64"/>
          <p:cNvSpPr/>
          <p:nvPr/>
        </p:nvSpPr>
        <p:spPr>
          <a:xfrm>
            <a:off x="594360" y="1188720"/>
            <a:ext cx="292608" cy="292608"/>
          </a:xfrm>
          <a:prstGeom prst="ellipse">
            <a:avLst/>
          </a:prstGeom>
          <a:solidFill>
            <a:srgbClr val="D2601A"/>
          </a:solidFill>
          <a:ln/>
        </p:spPr>
      </p:sp>
      <p:pic>
        <p:nvPicPr>
          <p:cNvPr id="82" name="Image 1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733" y="1253093"/>
            <a:ext cx="163860" cy="163860"/>
          </a:xfrm>
          <a:prstGeom prst="rect">
            <a:avLst/>
          </a:prstGeom>
        </p:spPr>
      </p:pic>
      <p:sp>
        <p:nvSpPr>
          <p:cNvPr id="83" name="Text 65"/>
          <p:cNvSpPr txBox="1"/>
          <p:nvPr/>
        </p:nvSpPr>
        <p:spPr>
          <a:xfrm>
            <a:off x="1069848" y="1170432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850" dirty="0"/>
          </a:p>
        </p:txBody>
      </p:sp>
      <p:sp>
        <p:nvSpPr>
          <p:cNvPr id="84" name="Text 66"/>
          <p:cNvSpPr txBox="1"/>
          <p:nvPr/>
        </p:nvSpPr>
        <p:spPr>
          <a:xfrm>
            <a:off x="1069848" y="1344168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vercel/next.js</a:t>
            </a:r>
            <a:endParaRPr lang="en-US" sz="650" dirty="0"/>
          </a:p>
        </p:txBody>
      </p:sp>
      <p:sp>
        <p:nvSpPr>
          <p:cNvPr id="86" name="Shape 68"/>
          <p:cNvSpPr/>
          <p:nvPr/>
        </p:nvSpPr>
        <p:spPr>
          <a:xfrm>
            <a:off x="411480" y="2670048"/>
            <a:ext cx="11365992" cy="3611880"/>
          </a:xfrm>
          <a:prstGeom prst="roundRect">
            <a:avLst>
              <a:gd name="adj" fmla="val 1013"/>
            </a:avLst>
          </a:prstGeom>
          <a:solidFill>
            <a:srgbClr val="F4F7FB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87" name="Shape 69"/>
          <p:cNvSpPr/>
          <p:nvPr/>
        </p:nvSpPr>
        <p:spPr>
          <a:xfrm>
            <a:off x="502920" y="2724912"/>
            <a:ext cx="237744" cy="237744"/>
          </a:xfrm>
          <a:prstGeom prst="ellipse">
            <a:avLst/>
          </a:prstGeom>
          <a:solidFill>
            <a:srgbClr val="E0A21B"/>
          </a:solidFill>
          <a:ln/>
        </p:spPr>
      </p:sp>
      <p:pic>
        <p:nvPicPr>
          <p:cNvPr id="88" name="Image 1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5224" y="2777216"/>
            <a:ext cx="133137" cy="133137"/>
          </a:xfrm>
          <a:prstGeom prst="rect">
            <a:avLst/>
          </a:prstGeom>
        </p:spPr>
      </p:pic>
      <p:sp>
        <p:nvSpPr>
          <p:cNvPr id="89" name="Text 70"/>
          <p:cNvSpPr txBox="1"/>
          <p:nvPr/>
        </p:nvSpPr>
        <p:spPr>
          <a:xfrm>
            <a:off x="804672" y="270662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· ARCHITECTURE v2 — air-gapped, Docker Compose on an internal-only network, no cloud API, no telemetry, no device credentials</a:t>
            </a:r>
            <a:endParaRPr lang="en-US" sz="850" dirty="0"/>
          </a:p>
        </p:txBody>
      </p:sp>
      <p:sp>
        <p:nvSpPr>
          <p:cNvPr id="92" name="Shape 73"/>
          <p:cNvSpPr/>
          <p:nvPr/>
        </p:nvSpPr>
        <p:spPr>
          <a:xfrm>
            <a:off x="530352" y="3108960"/>
            <a:ext cx="1188720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93" name="Shape 74"/>
          <p:cNvSpPr/>
          <p:nvPr/>
        </p:nvSpPr>
        <p:spPr>
          <a:xfrm>
            <a:off x="896112" y="3200400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94" name="Image 1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696" y="3300984"/>
            <a:ext cx="256032" cy="256032"/>
          </a:xfrm>
          <a:prstGeom prst="rect">
            <a:avLst/>
          </a:prstGeom>
        </p:spPr>
      </p:pic>
      <p:sp>
        <p:nvSpPr>
          <p:cNvPr id="95" name="Text 75"/>
          <p:cNvSpPr txBox="1"/>
          <p:nvPr/>
        </p:nvSpPr>
        <p:spPr>
          <a:xfrm>
            <a:off x="566928" y="3703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/ Operator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 · FastAPI · Celery + Redis</a:t>
            </a:r>
            <a:endParaRPr lang="en-US" sz="800" dirty="0"/>
          </a:p>
        </p:txBody>
      </p:sp>
      <p:sp>
        <p:nvSpPr>
          <p:cNvPr id="96" name="Text 76"/>
          <p:cNvSpPr txBox="1"/>
          <p:nvPr/>
        </p:nvSpPr>
        <p:spPr>
          <a:xfrm>
            <a:off x="566928" y="46177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▶ top row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out bottom row</a:t>
            </a:r>
            <a:endParaRPr lang="en-US" sz="750" dirty="0"/>
          </a:p>
        </p:txBody>
      </p:sp>
      <p:sp>
        <p:nvSpPr>
          <p:cNvPr id="97" name="Shape 77"/>
          <p:cNvSpPr/>
          <p:nvPr/>
        </p:nvSpPr>
        <p:spPr>
          <a:xfrm>
            <a:off x="1874520" y="3127248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4EF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98" name="Text 78"/>
          <p:cNvSpPr txBox="1"/>
          <p:nvPr/>
        </p:nvSpPr>
        <p:spPr>
          <a:xfrm>
            <a:off x="1929384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INGEST GATE</a:t>
            </a:r>
            <a:endParaRPr lang="en-US" sz="800" dirty="0"/>
          </a:p>
        </p:txBody>
      </p:sp>
      <p:sp>
        <p:nvSpPr>
          <p:cNvPr id="99" name="Text 79"/>
          <p:cNvSpPr txBox="1"/>
          <p:nvPr/>
        </p:nvSpPr>
        <p:spPr>
          <a:xfrm>
            <a:off x="1929384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allowlist · size caps · timeout · bounded subprocess</a:t>
            </a:r>
            <a:endParaRPr lang="en-US" sz="750" dirty="0"/>
          </a:p>
        </p:txBody>
      </p:sp>
      <p:sp>
        <p:nvSpPr>
          <p:cNvPr id="102" name="Shape 82"/>
          <p:cNvSpPr/>
          <p:nvPr/>
        </p:nvSpPr>
        <p:spPr>
          <a:xfrm>
            <a:off x="3364992" y="3639312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03" name="Shape 83"/>
          <p:cNvSpPr/>
          <p:nvPr/>
        </p:nvSpPr>
        <p:spPr>
          <a:xfrm>
            <a:off x="3520440" y="3127248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4EF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04" name="Text 84"/>
          <p:cNvSpPr txBox="1"/>
          <p:nvPr/>
        </p:nvSpPr>
        <p:spPr>
          <a:xfrm>
            <a:off x="3575304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EVIDENCE + MASK</a:t>
            </a:r>
            <a:endParaRPr lang="en-US" sz="800" dirty="0"/>
          </a:p>
        </p:txBody>
      </p:sp>
      <p:sp>
        <p:nvSpPr>
          <p:cNvPr id="105" name="Text 85"/>
          <p:cNvSpPr txBox="1"/>
          <p:nvPr/>
        </p:nvSpPr>
        <p:spPr>
          <a:xfrm>
            <a:off x="3575304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pre-redaction; stored last-4 + position + hash</a:t>
            </a:r>
            <a:endParaRPr lang="en-US" sz="750" dirty="0"/>
          </a:p>
        </p:txBody>
      </p:sp>
      <p:sp>
        <p:nvSpPr>
          <p:cNvPr id="108" name="Shape 88"/>
          <p:cNvSpPr/>
          <p:nvPr/>
        </p:nvSpPr>
        <p:spPr>
          <a:xfrm>
            <a:off x="5010912" y="3639312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09" name="Shape 89"/>
          <p:cNvSpPr/>
          <p:nvPr/>
        </p:nvSpPr>
        <p:spPr>
          <a:xfrm>
            <a:off x="5166360" y="3127248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0F3F4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10" name="Text 90"/>
          <p:cNvSpPr txBox="1"/>
          <p:nvPr/>
        </p:nvSpPr>
        <p:spPr>
          <a:xfrm>
            <a:off x="5221224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FINGERPRINT</a:t>
            </a:r>
            <a:endParaRPr lang="en-US" sz="800" dirty="0"/>
          </a:p>
        </p:txBody>
      </p:sp>
      <p:sp>
        <p:nvSpPr>
          <p:cNvPr id="111" name="Text 91"/>
          <p:cNvSpPr txBox="1"/>
          <p:nvPr/>
        </p:nvSpPr>
        <p:spPr>
          <a:xfrm>
            <a:off x="5221224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TextFSM / NTC; confidence &lt; 0.60 → human confirm</a:t>
            </a:r>
            <a:endParaRPr lang="en-US" sz="750" dirty="0"/>
          </a:p>
        </p:txBody>
      </p:sp>
      <p:sp>
        <p:nvSpPr>
          <p:cNvPr id="112" name="Shape 92"/>
          <p:cNvSpPr/>
          <p:nvPr/>
        </p:nvSpPr>
        <p:spPr>
          <a:xfrm>
            <a:off x="6656832" y="3639312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13" name="Shape 93"/>
          <p:cNvSpPr/>
          <p:nvPr/>
        </p:nvSpPr>
        <p:spPr>
          <a:xfrm>
            <a:off x="6812280" y="3127248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F0E9F8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114" name="Text 94"/>
          <p:cNvSpPr txBox="1"/>
          <p:nvPr/>
        </p:nvSpPr>
        <p:spPr>
          <a:xfrm>
            <a:off x="6867144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DUAL EXTRACTION</a:t>
            </a:r>
            <a:endParaRPr lang="en-US" sz="800" dirty="0"/>
          </a:p>
        </p:txBody>
      </p:sp>
      <p:sp>
        <p:nvSpPr>
          <p:cNvPr id="115" name="Text 95"/>
          <p:cNvSpPr txBox="1"/>
          <p:nvPr/>
        </p:nvSpPr>
        <p:spPr>
          <a:xfrm>
            <a:off x="6867144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TextFSM ∥ Qwen2.5-Coder-7B + Outlines; block chunking</a:t>
            </a:r>
            <a:endParaRPr lang="en-US" sz="750" dirty="0"/>
          </a:p>
        </p:txBody>
      </p:sp>
      <p:sp>
        <p:nvSpPr>
          <p:cNvPr id="116" name="Shape 96"/>
          <p:cNvSpPr/>
          <p:nvPr/>
        </p:nvSpPr>
        <p:spPr>
          <a:xfrm>
            <a:off x="8302752" y="3639312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17" name="Shape 97"/>
          <p:cNvSpPr/>
          <p:nvPr/>
        </p:nvSpPr>
        <p:spPr>
          <a:xfrm>
            <a:off x="8458200" y="3127248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F0E9F8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118" name="Text 98"/>
          <p:cNvSpPr txBox="1"/>
          <p:nvPr/>
        </p:nvSpPr>
        <p:spPr>
          <a:xfrm>
            <a:off x="8513064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CROSS-CHECK</a:t>
            </a:r>
            <a:endParaRPr lang="en-US" sz="800" dirty="0"/>
          </a:p>
        </p:txBody>
      </p:sp>
      <p:sp>
        <p:nvSpPr>
          <p:cNvPr id="119" name="Text 99"/>
          <p:cNvSpPr txBox="1"/>
          <p:nvPr/>
        </p:nvSpPr>
        <p:spPr>
          <a:xfrm>
            <a:off x="8513064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+ anomaly score → human review</a:t>
            </a:r>
            <a:endParaRPr lang="en-US" sz="750" dirty="0"/>
          </a:p>
        </p:txBody>
      </p:sp>
      <p:sp>
        <p:nvSpPr>
          <p:cNvPr id="122" name="Shape 102"/>
          <p:cNvSpPr/>
          <p:nvPr/>
        </p:nvSpPr>
        <p:spPr>
          <a:xfrm>
            <a:off x="9948672" y="3639312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23" name="Shape 103"/>
          <p:cNvSpPr/>
          <p:nvPr/>
        </p:nvSpPr>
        <p:spPr>
          <a:xfrm>
            <a:off x="10104120" y="3127248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0F3F4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24" name="Text 104"/>
          <p:cNvSpPr txBox="1"/>
          <p:nvPr/>
        </p:nvSpPr>
        <p:spPr>
          <a:xfrm>
            <a:off x="10158984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SCHEMA GATE</a:t>
            </a:r>
            <a:endParaRPr lang="en-US" sz="800" dirty="0"/>
          </a:p>
        </p:txBody>
      </p:sp>
      <p:sp>
        <p:nvSpPr>
          <p:cNvPr id="125" name="Text 105"/>
          <p:cNvSpPr txBox="1"/>
          <p:nvPr/>
        </p:nvSpPr>
        <p:spPr>
          <a:xfrm>
            <a:off x="10158984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strict; invalid → quarantine</a:t>
            </a:r>
            <a:endParaRPr lang="en-US" sz="750" dirty="0"/>
          </a:p>
        </p:txBody>
      </p:sp>
      <p:sp>
        <p:nvSpPr>
          <p:cNvPr id="126" name="Shape 106"/>
          <p:cNvSpPr/>
          <p:nvPr/>
        </p:nvSpPr>
        <p:spPr>
          <a:xfrm>
            <a:off x="1728216" y="3639312"/>
            <a:ext cx="137160" cy="914"/>
          </a:xfrm>
          <a:prstGeom prst="line">
            <a:avLst/>
          </a:prstGeom>
          <a:noFill/>
          <a:ln w="19050">
            <a:solidFill>
              <a:srgbClr val="E0A21B"/>
            </a:solidFill>
            <a:prstDash val="solid"/>
            <a:tailEnd type="triangle"/>
          </a:ln>
        </p:spPr>
      </p:sp>
      <p:sp>
        <p:nvSpPr>
          <p:cNvPr id="127" name="Shape 107"/>
          <p:cNvSpPr/>
          <p:nvPr/>
        </p:nvSpPr>
        <p:spPr>
          <a:xfrm>
            <a:off x="1874520" y="4325112"/>
            <a:ext cx="9756648" cy="914"/>
          </a:xfrm>
          <a:prstGeom prst="line">
            <a:avLst/>
          </a:prstGeom>
          <a:noFill/>
          <a:ln w="22225">
            <a:solidFill>
              <a:srgbClr val="E0A21B"/>
            </a:solidFill>
            <a:prstDash val="dash"/>
          </a:ln>
        </p:spPr>
      </p:sp>
      <p:sp>
        <p:nvSpPr>
          <p:cNvPr id="128" name="Shape 108"/>
          <p:cNvSpPr/>
          <p:nvPr/>
        </p:nvSpPr>
        <p:spPr>
          <a:xfrm>
            <a:off x="4023360" y="4215384"/>
            <a:ext cx="5120640" cy="2286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129" name="Text 109"/>
          <p:cNvSpPr txBox="1"/>
          <p:nvPr/>
        </p:nvSpPr>
        <p:spPr>
          <a:xfrm>
            <a:off x="4023360" y="42153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BOUNDARY — only schema-valid JSON crosses · no model below this line</a:t>
            </a:r>
            <a:endParaRPr lang="en-US" sz="750" dirty="0"/>
          </a:p>
        </p:txBody>
      </p:sp>
      <p:sp>
        <p:nvSpPr>
          <p:cNvPr id="130" name="Shape 110"/>
          <p:cNvSpPr/>
          <p:nvPr/>
        </p:nvSpPr>
        <p:spPr>
          <a:xfrm>
            <a:off x="11338560" y="4160520"/>
            <a:ext cx="914" cy="338328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31" name="Shape 111"/>
          <p:cNvSpPr/>
          <p:nvPr/>
        </p:nvSpPr>
        <p:spPr>
          <a:xfrm>
            <a:off x="10104120" y="4526280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5F5EB"/>
          </a:solidFill>
          <a:ln w="15875">
            <a:solidFill>
              <a:srgbClr val="1E8A4C"/>
            </a:solidFill>
            <a:prstDash val="solid"/>
          </a:ln>
        </p:spPr>
      </p:sp>
      <p:sp>
        <p:nvSpPr>
          <p:cNvPr id="132" name="Text 112"/>
          <p:cNvSpPr txBox="1"/>
          <p:nvPr/>
        </p:nvSpPr>
        <p:spPr>
          <a:xfrm>
            <a:off x="1015898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OPA / REGO</a:t>
            </a:r>
            <a:endParaRPr lang="en-US" sz="800" dirty="0"/>
          </a:p>
        </p:txBody>
      </p:sp>
      <p:sp>
        <p:nvSpPr>
          <p:cNvPr id="133" name="Text 113"/>
          <p:cNvSpPr txBox="1"/>
          <p:nvPr/>
        </p:nvSpPr>
        <p:spPr>
          <a:xfrm>
            <a:off x="10158984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verdict; Git-versioned CIS / STIG / NIST bundles</a:t>
            </a:r>
            <a:endParaRPr lang="en-US" sz="750" dirty="0"/>
          </a:p>
        </p:txBody>
      </p:sp>
      <p:sp>
        <p:nvSpPr>
          <p:cNvPr id="134" name="Shape 114"/>
          <p:cNvSpPr/>
          <p:nvPr/>
        </p:nvSpPr>
        <p:spPr>
          <a:xfrm flipH="1">
            <a:off x="9948672" y="5029200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35" name="Shape 115"/>
          <p:cNvSpPr/>
          <p:nvPr/>
        </p:nvSpPr>
        <p:spPr>
          <a:xfrm>
            <a:off x="8458200" y="4526280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5F5EB"/>
          </a:solidFill>
          <a:ln w="15875">
            <a:solidFill>
              <a:srgbClr val="1E8A4C"/>
            </a:solidFill>
            <a:prstDash val="solid"/>
          </a:ln>
        </p:spPr>
      </p:sp>
      <p:sp>
        <p:nvSpPr>
          <p:cNvPr id="136" name="Text 116"/>
          <p:cNvSpPr txBox="1"/>
          <p:nvPr/>
        </p:nvSpPr>
        <p:spPr>
          <a:xfrm>
            <a:off x="851306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APPEND-ONLY LEDGER</a:t>
            </a:r>
            <a:endParaRPr lang="en-US" sz="800" dirty="0"/>
          </a:p>
        </p:txBody>
      </p:sp>
      <p:sp>
        <p:nvSpPr>
          <p:cNvPr id="137" name="Text 117"/>
          <p:cNvSpPr txBox="1"/>
          <p:nvPr/>
        </p:nvSpPr>
        <p:spPr>
          <a:xfrm>
            <a:off x="8513064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never overwritten; config hash + bundle ver</a:t>
            </a:r>
            <a:endParaRPr lang="en-US" sz="750" dirty="0"/>
          </a:p>
        </p:txBody>
      </p:sp>
      <p:sp>
        <p:nvSpPr>
          <p:cNvPr id="140" name="Shape 120"/>
          <p:cNvSpPr/>
          <p:nvPr/>
        </p:nvSpPr>
        <p:spPr>
          <a:xfrm flipH="1">
            <a:off x="8302752" y="5029200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41" name="Shape 121"/>
          <p:cNvSpPr/>
          <p:nvPr/>
        </p:nvSpPr>
        <p:spPr>
          <a:xfrm>
            <a:off x="6812280" y="4526280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FDEEE2"/>
          </a:solidFill>
          <a:ln w="15875">
            <a:solidFill>
              <a:srgbClr val="D2601A"/>
            </a:solidFill>
            <a:prstDash val="solid"/>
          </a:ln>
        </p:spPr>
      </p:sp>
      <p:sp>
        <p:nvSpPr>
          <p:cNvPr id="142" name="Text 122"/>
          <p:cNvSpPr txBox="1"/>
          <p:nvPr/>
        </p:nvSpPr>
        <p:spPr>
          <a:xfrm>
            <a:off x="686714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REMEDIATION</a:t>
            </a:r>
            <a:endParaRPr lang="en-US" sz="800" dirty="0"/>
          </a:p>
        </p:txBody>
      </p:sp>
      <p:sp>
        <p:nvSpPr>
          <p:cNvPr id="143" name="Text 123"/>
          <p:cNvSpPr txBox="1"/>
          <p:nvPr/>
        </p:nvSpPr>
        <p:spPr>
          <a:xfrm>
            <a:off x="6867144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SandboxedEnvironment; values only as variables</a:t>
            </a:r>
            <a:endParaRPr lang="en-US" sz="750" dirty="0"/>
          </a:p>
        </p:txBody>
      </p:sp>
      <p:sp>
        <p:nvSpPr>
          <p:cNvPr id="146" name="Shape 126"/>
          <p:cNvSpPr/>
          <p:nvPr/>
        </p:nvSpPr>
        <p:spPr>
          <a:xfrm flipH="1">
            <a:off x="6656832" y="5029200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47" name="Shape 127"/>
          <p:cNvSpPr/>
          <p:nvPr/>
        </p:nvSpPr>
        <p:spPr>
          <a:xfrm>
            <a:off x="5166360" y="4526280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FDEEE2"/>
          </a:solidFill>
          <a:ln w="15875">
            <a:solidFill>
              <a:srgbClr val="D2601A"/>
            </a:solidFill>
            <a:prstDash val="solid"/>
          </a:ln>
        </p:spPr>
      </p:sp>
      <p:sp>
        <p:nvSpPr>
          <p:cNvPr id="148" name="Text 128"/>
          <p:cNvSpPr txBox="1"/>
          <p:nvPr/>
        </p:nvSpPr>
        <p:spPr>
          <a:xfrm>
            <a:off x="522122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2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PRE-FLIGHT</a:t>
            </a:r>
            <a:endParaRPr lang="en-US" sz="800" dirty="0"/>
          </a:p>
        </p:txBody>
      </p:sp>
      <p:sp>
        <p:nvSpPr>
          <p:cNvPr id="149" name="Text 129"/>
          <p:cNvSpPr txBox="1"/>
          <p:nvPr/>
        </p:nvSpPr>
        <p:spPr>
          <a:xfrm>
            <a:off x="5221224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lock-out checks + Batfish → SAFE / RISK_FLAGS</a:t>
            </a:r>
            <a:endParaRPr lang="en-US" sz="750" dirty="0"/>
          </a:p>
        </p:txBody>
      </p:sp>
      <p:sp>
        <p:nvSpPr>
          <p:cNvPr id="150" name="Shape 130"/>
          <p:cNvSpPr/>
          <p:nvPr/>
        </p:nvSpPr>
        <p:spPr>
          <a:xfrm flipH="1">
            <a:off x="5010912" y="5029200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51" name="Shape 131"/>
          <p:cNvSpPr/>
          <p:nvPr/>
        </p:nvSpPr>
        <p:spPr>
          <a:xfrm>
            <a:off x="3520440" y="4526280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FBF2DE"/>
          </a:solidFill>
          <a:ln w="15875">
            <a:solidFill>
              <a:srgbClr val="A26D00"/>
            </a:solidFill>
            <a:prstDash val="solid"/>
          </a:ln>
        </p:spPr>
      </p:sp>
      <p:sp>
        <p:nvSpPr>
          <p:cNvPr id="152" name="Text 132"/>
          <p:cNvSpPr txBox="1"/>
          <p:nvPr/>
        </p:nvSpPr>
        <p:spPr>
          <a:xfrm>
            <a:off x="357530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2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HUMAN APPROVAL</a:t>
            </a:r>
            <a:endParaRPr lang="en-US" sz="800" dirty="0"/>
          </a:p>
        </p:txBody>
      </p:sp>
      <p:sp>
        <p:nvSpPr>
          <p:cNvPr id="153" name="Text 133"/>
          <p:cNvSpPr txBox="1"/>
          <p:nvPr/>
        </p:nvSpPr>
        <p:spPr>
          <a:xfrm>
            <a:off x="3575304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RISK_FLAGS → HTTP 409; never auto-applied</a:t>
            </a:r>
            <a:endParaRPr lang="en-US" sz="750" dirty="0"/>
          </a:p>
        </p:txBody>
      </p:sp>
      <p:sp>
        <p:nvSpPr>
          <p:cNvPr id="154" name="Shape 134"/>
          <p:cNvSpPr/>
          <p:nvPr/>
        </p:nvSpPr>
        <p:spPr>
          <a:xfrm flipH="1">
            <a:off x="3364992" y="5029200"/>
            <a:ext cx="146304" cy="914"/>
          </a:xfrm>
          <a:prstGeom prst="line">
            <a:avLst/>
          </a:prstGeom>
          <a:noFill/>
          <a:ln w="19050">
            <a:solidFill>
              <a:srgbClr val="8A9BB3"/>
            </a:solidFill>
            <a:prstDash val="solid"/>
            <a:tailEnd type="triangle"/>
          </a:ln>
        </p:spPr>
      </p:sp>
      <p:sp>
        <p:nvSpPr>
          <p:cNvPr id="155" name="Shape 135"/>
          <p:cNvSpPr/>
          <p:nvPr/>
        </p:nvSpPr>
        <p:spPr>
          <a:xfrm>
            <a:off x="1874520" y="4526280"/>
            <a:ext cx="1481328" cy="1024128"/>
          </a:xfrm>
          <a:prstGeom prst="roundRect">
            <a:avLst>
              <a:gd name="adj" fmla="val 5357"/>
            </a:avLst>
          </a:prstGeom>
          <a:solidFill>
            <a:srgbClr val="E4EFFA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56" name="Text 136"/>
          <p:cNvSpPr txBox="1"/>
          <p:nvPr/>
        </p:nvSpPr>
        <p:spPr>
          <a:xfrm>
            <a:off x="1929384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REPORT</a:t>
            </a:r>
            <a:endParaRPr lang="en-US" sz="800" dirty="0"/>
          </a:p>
        </p:txBody>
      </p:sp>
      <p:sp>
        <p:nvSpPr>
          <p:cNvPr id="157" name="Text 137"/>
          <p:cNvSpPr txBox="1"/>
          <p:nvPr/>
        </p:nvSpPr>
        <p:spPr>
          <a:xfrm>
            <a:off x="1929384" y="4846320"/>
            <a:ext cx="1371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PDF · JSON · CEF → SIEM; stored in MinIO</a:t>
            </a:r>
            <a:endParaRPr lang="en-US" sz="750" dirty="0"/>
          </a:p>
        </p:txBody>
      </p:sp>
      <p:sp>
        <p:nvSpPr>
          <p:cNvPr id="158" name="Shape 138"/>
          <p:cNvSpPr/>
          <p:nvPr/>
        </p:nvSpPr>
        <p:spPr>
          <a:xfrm flipH="1">
            <a:off x="1728216" y="5029200"/>
            <a:ext cx="137160" cy="914"/>
          </a:xfrm>
          <a:prstGeom prst="line">
            <a:avLst/>
          </a:prstGeom>
          <a:noFill/>
          <a:ln w="19050">
            <a:solidFill>
              <a:srgbClr val="1E8A4C"/>
            </a:solidFill>
            <a:prstDash val="solid"/>
            <a:tailEnd type="triangle"/>
          </a:ln>
        </p:spPr>
      </p:sp>
      <p:sp>
        <p:nvSpPr>
          <p:cNvPr id="159" name="Shape 139"/>
          <p:cNvSpPr/>
          <p:nvPr/>
        </p:nvSpPr>
        <p:spPr>
          <a:xfrm>
            <a:off x="530352" y="5669280"/>
            <a:ext cx="5486400" cy="530352"/>
          </a:xfrm>
          <a:prstGeom prst="roundRect">
            <a:avLst>
              <a:gd name="adj" fmla="val 8621"/>
            </a:avLst>
          </a:prstGeom>
          <a:ln w="12700">
            <a:solidFill>
              <a:srgbClr val="D3DCE8"/>
            </a:solidFill>
            <a:prstDash val="solid"/>
          </a:ln>
        </p:spPr>
      </p:sp>
      <p:sp>
        <p:nvSpPr>
          <p:cNvPr id="160" name="Text 140"/>
          <p:cNvSpPr txBox="1"/>
          <p:nvPr/>
        </p:nvSpPr>
        <p:spPr>
          <a:xfrm>
            <a:off x="594360" y="5669280"/>
            <a:ext cx="5422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 </a:t>
            </a: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(ledger) · MinIO (evidence, reports) · ChromaDB (confirmed vendor mappings) · Git (Rego bundles)</a:t>
            </a:r>
            <a:endParaRPr lang="en-US" sz="750" dirty="0"/>
          </a:p>
        </p:txBody>
      </p:sp>
      <p:sp>
        <p:nvSpPr>
          <p:cNvPr id="161" name="Shape 141"/>
          <p:cNvSpPr/>
          <p:nvPr/>
        </p:nvSpPr>
        <p:spPr>
          <a:xfrm>
            <a:off x="6126480" y="5669280"/>
            <a:ext cx="5532120" cy="530352"/>
          </a:xfrm>
          <a:prstGeom prst="roundRect">
            <a:avLst>
              <a:gd name="adj" fmla="val 8621"/>
            </a:avLst>
          </a:prstGeom>
          <a:ln w="12700">
            <a:solidFill>
              <a:srgbClr val="5FC48A"/>
            </a:solidFill>
            <a:prstDash val="dash"/>
          </a:ln>
        </p:spPr>
      </p:sp>
      <p:sp>
        <p:nvSpPr>
          <p:cNvPr id="162" name="Text 142"/>
          <p:cNvSpPr txBox="1"/>
          <p:nvPr/>
        </p:nvSpPr>
        <p:spPr>
          <a:xfrm>
            <a:off x="6190488" y="5614416"/>
            <a:ext cx="5404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UPSTREAM ONLY  </a:t>
            </a: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circuit-8b</a:t>
            </a:r>
            <a:endParaRPr lang="en-US" sz="750" dirty="0"/>
          </a:p>
        </p:txBody>
      </p:sp>
      <p:pic>
        <p:nvPicPr>
          <p:cNvPr id="11" name="Picture 10" descr="Ollama AI Logo | Free SVG &amp; PNG Download">
            <a:extLst>
              <a:ext uri="{FF2B5EF4-FFF2-40B4-BE49-F238E27FC236}">
                <a16:creationId xmlns:a16="http://schemas.microsoft.com/office/drawing/2014/main" id="{139F82E4-9E97-8B17-7E60-DED62ADD05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77356" y="1545336"/>
            <a:ext cx="292608" cy="292608"/>
          </a:xfrm>
          <a:prstGeom prst="rect">
            <a:avLst/>
          </a:prstGeom>
        </p:spPr>
      </p:pic>
      <p:pic>
        <p:nvPicPr>
          <p:cNvPr id="165" name="Picture 164" descr="Qwen2.5B Coder LLM and how transformative is for Business">
            <a:extLst>
              <a:ext uri="{FF2B5EF4-FFF2-40B4-BE49-F238E27FC236}">
                <a16:creationId xmlns:a16="http://schemas.microsoft.com/office/drawing/2014/main" id="{33BC092A-7169-4454-B63B-657CB3C160A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01234" y="1188720"/>
            <a:ext cx="444853" cy="292608"/>
          </a:xfrm>
          <a:prstGeom prst="rect">
            <a:avLst/>
          </a:prstGeom>
        </p:spPr>
      </p:pic>
      <p:pic>
        <p:nvPicPr>
          <p:cNvPr id="167" name="Picture 166" descr="What Is ChromaDB? ChromaDB Vector Database Tutorial - Designveloper">
            <a:extLst>
              <a:ext uri="{FF2B5EF4-FFF2-40B4-BE49-F238E27FC236}">
                <a16:creationId xmlns:a16="http://schemas.microsoft.com/office/drawing/2014/main" id="{6B14C433-18C0-21FC-4CC7-D97A7E193E6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86170" y="1901952"/>
            <a:ext cx="486316" cy="292608"/>
          </a:xfrm>
          <a:prstGeom prst="rect">
            <a:avLst/>
          </a:prstGeom>
        </p:spPr>
      </p:pic>
      <p:pic>
        <p:nvPicPr>
          <p:cNvPr id="168" name="Picture 167" descr="A Practical Guide to using Pydantic | by Marc Nealer | Medium">
            <a:extLst>
              <a:ext uri="{FF2B5EF4-FFF2-40B4-BE49-F238E27FC236}">
                <a16:creationId xmlns:a16="http://schemas.microsoft.com/office/drawing/2014/main" id="{19ED1BF9-6EA7-746D-5C18-BA6BE6E43D3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67628" y="2270611"/>
            <a:ext cx="512064" cy="268521"/>
          </a:xfrm>
          <a:prstGeom prst="rect">
            <a:avLst/>
          </a:prstGeom>
        </p:spPr>
      </p:pic>
      <p:pic>
        <p:nvPicPr>
          <p:cNvPr id="169" name="Picture 168" descr="FastAPI - FastAPI">
            <a:extLst>
              <a:ext uri="{FF2B5EF4-FFF2-40B4-BE49-F238E27FC236}">
                <a16:creationId xmlns:a16="http://schemas.microsoft.com/office/drawing/2014/main" id="{77E3F3DB-73C3-EDDE-4378-C5B4BA36F07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78964" y="1242358"/>
            <a:ext cx="512064" cy="185332"/>
          </a:xfrm>
          <a:prstGeom prst="rect">
            <a:avLst/>
          </a:prstGeom>
        </p:spPr>
      </p:pic>
      <p:pic>
        <p:nvPicPr>
          <p:cNvPr id="170" name="Picture 169" descr="Postgresql plain wordmark logo - free Icon PNG, SVG">
            <a:extLst>
              <a:ext uri="{FF2B5EF4-FFF2-40B4-BE49-F238E27FC236}">
                <a16:creationId xmlns:a16="http://schemas.microsoft.com/office/drawing/2014/main" id="{44E5B8DD-D96D-678D-2417-DE4A1497F08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83024" y="1188720"/>
            <a:ext cx="292608" cy="292608"/>
          </a:xfrm>
          <a:prstGeom prst="rect">
            <a:avLst/>
          </a:prstGeom>
        </p:spPr>
      </p:pic>
      <p:pic>
        <p:nvPicPr>
          <p:cNvPr id="171" name="Picture 170" descr="MinIO | 1Panel App Store">
            <a:extLst>
              <a:ext uri="{FF2B5EF4-FFF2-40B4-BE49-F238E27FC236}">
                <a16:creationId xmlns:a16="http://schemas.microsoft.com/office/drawing/2014/main" id="{EC0198B0-D337-AEBC-B3CA-41D005536F9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83024" y="1545336"/>
            <a:ext cx="292608" cy="292608"/>
          </a:xfrm>
          <a:prstGeom prst="rect">
            <a:avLst/>
          </a:prstGeom>
        </p:spPr>
      </p:pic>
      <p:pic>
        <p:nvPicPr>
          <p:cNvPr id="173" name="Picture 172" descr="Open Policy Agent (OPA) | CNCF">
            <a:extLst>
              <a:ext uri="{FF2B5EF4-FFF2-40B4-BE49-F238E27FC236}">
                <a16:creationId xmlns:a16="http://schemas.microsoft.com/office/drawing/2014/main" id="{7C145146-04C7-7DCC-27CA-E3A1AF73D97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54435" y="1901952"/>
            <a:ext cx="327113" cy="292608"/>
          </a:xfrm>
          <a:prstGeom prst="rect">
            <a:avLst/>
          </a:prstGeom>
        </p:spPr>
      </p:pic>
      <p:pic>
        <p:nvPicPr>
          <p:cNvPr id="174" name="Picture 173" descr="Jinja2 Template: The modern design friendly templating engine | by Knoldus Inc. | Knoldus - Technical Insights | Medium">
            <a:extLst>
              <a:ext uri="{FF2B5EF4-FFF2-40B4-BE49-F238E27FC236}">
                <a16:creationId xmlns:a16="http://schemas.microsoft.com/office/drawing/2014/main" id="{010161F1-1B93-4B6F-E2F3-043DCB56367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061960" y="2286153"/>
            <a:ext cx="512064" cy="237437"/>
          </a:xfrm>
          <a:prstGeom prst="rect">
            <a:avLst/>
          </a:prstGeom>
        </p:spPr>
      </p:pic>
      <p:pic>
        <p:nvPicPr>
          <p:cNvPr id="175" name="Picture 174" descr="Plug the hole in your network automation — validate changes before you deploy">
            <a:extLst>
              <a:ext uri="{FF2B5EF4-FFF2-40B4-BE49-F238E27FC236}">
                <a16:creationId xmlns:a16="http://schemas.microsoft.com/office/drawing/2014/main" id="{0CAB93B3-FE9B-2373-5A26-F49C095B0D9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47254" y="1188720"/>
            <a:ext cx="330139" cy="292608"/>
          </a:xfrm>
          <a:prstGeom prst="rect">
            <a:avLst/>
          </a:prstGeom>
        </p:spPr>
      </p:pic>
      <p:sp>
        <p:nvSpPr>
          <p:cNvPr id="176" name="Tailwind CSS 176"/>
          <p:cNvSpPr txBox="1"/>
          <p:nvPr/>
        </p:nvSpPr>
        <p:spPr>
          <a:xfrm>
            <a:off x="1069848" y="1527048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177" name="Tailwind CSS 177"/>
          <p:cNvSpPr txBox="1"/>
          <p:nvPr/>
        </p:nvSpPr>
        <p:spPr>
          <a:xfrm>
            <a:off x="1069848" y="1700784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tailwindlabs/tailwindcss</a:t>
            </a:r>
            <a:endParaRPr lang="en-US" sz="650" dirty="0"/>
          </a:p>
        </p:txBody>
      </p:sp>
      <p:sp>
        <p:nvSpPr>
          <p:cNvPr id="178" name="Tailwind CSS 178"/>
          <p:cNvSpPr/>
          <p:nvPr/>
        </p:nvSpPr>
        <p:spPr>
          <a:xfrm>
            <a:off x="594360" y="1545336"/>
            <a:ext cx="292608" cy="292608"/>
          </a:xfrm>
          <a:prstGeom prst="ellipse">
            <a:avLst/>
          </a:prstGeom>
          <a:solidFill>
            <a:srgbClr val="D2601A"/>
          </a:solidFill>
          <a:ln/>
        </p:spPr>
      </p:sp>
      <p:pic>
        <p:nvPicPr>
          <p:cNvPr id="179" name="Tailwind CSS 179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8733" y="1609709"/>
            <a:ext cx="163860" cy="163860"/>
          </a:xfrm>
          <a:prstGeom prst="rect">
            <a:avLst/>
          </a:prstGeom>
        </p:spPr>
      </p:pic>
      <p:sp>
        <p:nvSpPr>
          <p:cNvPr id="180" name="WeasyPrint 180"/>
          <p:cNvSpPr txBox="1"/>
          <p:nvPr/>
        </p:nvSpPr>
        <p:spPr>
          <a:xfrm>
            <a:off x="1069848" y="1883664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</a:t>
            </a:r>
            <a:endParaRPr lang="en-US" sz="850" dirty="0"/>
          </a:p>
        </p:txBody>
      </p:sp>
      <p:sp>
        <p:nvSpPr>
          <p:cNvPr id="181" name="WeasyPrint 181"/>
          <p:cNvSpPr txBox="1"/>
          <p:nvPr/>
        </p:nvSpPr>
        <p:spPr>
          <a:xfrm>
            <a:off x="1069848" y="2057400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Kozea/WeasyPrint</a:t>
            </a:r>
            <a:endParaRPr lang="en-US" sz="650" dirty="0"/>
          </a:p>
        </p:txBody>
      </p:sp>
      <p:sp>
        <p:nvSpPr>
          <p:cNvPr id="182" name="WeasyPrint 182"/>
          <p:cNvSpPr/>
          <p:nvPr/>
        </p:nvSpPr>
        <p:spPr>
          <a:xfrm>
            <a:off x="594360" y="1901952"/>
            <a:ext cx="292608" cy="292608"/>
          </a:xfrm>
          <a:prstGeom prst="ellipse">
            <a:avLst/>
          </a:prstGeom>
          <a:solidFill>
            <a:srgbClr val="D2601A"/>
          </a:solidFill>
          <a:ln/>
        </p:spPr>
      </p:sp>
      <p:pic>
        <p:nvPicPr>
          <p:cNvPr id="183" name="WeasyPrint 18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8733" y="1966325"/>
            <a:ext cx="163860" cy="163860"/>
          </a:xfrm>
          <a:prstGeom prst="rect">
            <a:avLst/>
          </a:prstGeom>
        </p:spPr>
      </p:pic>
      <p:sp>
        <p:nvSpPr>
          <p:cNvPr id="184" name="Celery 184"/>
          <p:cNvSpPr txBox="1"/>
          <p:nvPr/>
        </p:nvSpPr>
        <p:spPr>
          <a:xfrm>
            <a:off x="2964180" y="1527048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850" dirty="0"/>
          </a:p>
        </p:txBody>
      </p:sp>
      <p:sp>
        <p:nvSpPr>
          <p:cNvPr id="185" name="Celery 185"/>
          <p:cNvSpPr txBox="1"/>
          <p:nvPr/>
        </p:nvSpPr>
        <p:spPr>
          <a:xfrm>
            <a:off x="2964180" y="1700784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celery/celery</a:t>
            </a:r>
            <a:endParaRPr lang="en-US" sz="650" dirty="0"/>
          </a:p>
        </p:txBody>
      </p:sp>
      <p:sp>
        <p:nvSpPr>
          <p:cNvPr id="186" name="Celery 186"/>
          <p:cNvSpPr/>
          <p:nvPr/>
        </p:nvSpPr>
        <p:spPr>
          <a:xfrm>
            <a:off x="2488692" y="1545336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87" name="Celery 18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553065" y="1609709"/>
            <a:ext cx="163860" cy="163860"/>
          </a:xfrm>
          <a:prstGeom prst="rect">
            <a:avLst/>
          </a:prstGeom>
        </p:spPr>
      </p:pic>
      <p:sp>
        <p:nvSpPr>
          <p:cNvPr id="188" name="Redis 188"/>
          <p:cNvSpPr txBox="1"/>
          <p:nvPr/>
        </p:nvSpPr>
        <p:spPr>
          <a:xfrm>
            <a:off x="2964180" y="1883664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</p:txBody>
      </p:sp>
      <p:sp>
        <p:nvSpPr>
          <p:cNvPr id="189" name="Redis 189"/>
          <p:cNvSpPr txBox="1"/>
          <p:nvPr/>
        </p:nvSpPr>
        <p:spPr>
          <a:xfrm>
            <a:off x="2964180" y="2057400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redis/redis</a:t>
            </a:r>
            <a:endParaRPr lang="en-US" sz="650" dirty="0"/>
          </a:p>
        </p:txBody>
      </p:sp>
      <p:sp>
        <p:nvSpPr>
          <p:cNvPr id="190" name="Redis 190"/>
          <p:cNvSpPr/>
          <p:nvPr/>
        </p:nvSpPr>
        <p:spPr>
          <a:xfrm>
            <a:off x="2488692" y="1901952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91" name="Redis 191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53065" y="1966325"/>
            <a:ext cx="163860" cy="163860"/>
          </a:xfrm>
          <a:prstGeom prst="rect">
            <a:avLst/>
          </a:prstGeom>
        </p:spPr>
      </p:pic>
      <p:sp>
        <p:nvSpPr>
          <p:cNvPr id="192" name="Docker Compose 192"/>
          <p:cNvSpPr txBox="1"/>
          <p:nvPr/>
        </p:nvSpPr>
        <p:spPr>
          <a:xfrm>
            <a:off x="10541508" y="1527048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850" dirty="0"/>
          </a:p>
        </p:txBody>
      </p:sp>
      <p:sp>
        <p:nvSpPr>
          <p:cNvPr id="193" name="Docker Compose 193"/>
          <p:cNvSpPr txBox="1"/>
          <p:nvPr/>
        </p:nvSpPr>
        <p:spPr>
          <a:xfrm>
            <a:off x="10541508" y="1700784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docker/compose</a:t>
            </a:r>
            <a:endParaRPr lang="en-US" sz="650" dirty="0"/>
          </a:p>
        </p:txBody>
      </p:sp>
      <p:sp>
        <p:nvSpPr>
          <p:cNvPr id="194" name="Docker Compose 194"/>
          <p:cNvSpPr/>
          <p:nvPr/>
        </p:nvSpPr>
        <p:spPr>
          <a:xfrm>
            <a:off x="10066020" y="1545336"/>
            <a:ext cx="292608" cy="292608"/>
          </a:xfrm>
          <a:prstGeom prst="ellipse">
            <a:avLst/>
          </a:prstGeom>
          <a:solidFill>
            <a:srgbClr val="A26D00"/>
          </a:solidFill>
          <a:ln/>
        </p:spPr>
      </p:sp>
      <p:pic>
        <p:nvPicPr>
          <p:cNvPr id="195" name="Docker Compose 195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130393" y="1609709"/>
            <a:ext cx="163860" cy="163860"/>
          </a:xfrm>
          <a:prstGeom prst="rect">
            <a:avLst/>
          </a:prstGeom>
        </p:spPr>
      </p:pic>
      <p:sp>
        <p:nvSpPr>
          <p:cNvPr id="196" name="Git 196"/>
          <p:cNvSpPr txBox="1"/>
          <p:nvPr/>
        </p:nvSpPr>
        <p:spPr>
          <a:xfrm>
            <a:off x="10541508" y="1883664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850" dirty="0"/>
          </a:p>
        </p:txBody>
      </p:sp>
      <p:sp>
        <p:nvSpPr>
          <p:cNvPr id="197" name="Git 197"/>
          <p:cNvSpPr txBox="1"/>
          <p:nvPr/>
        </p:nvSpPr>
        <p:spPr>
          <a:xfrm>
            <a:off x="10541508" y="2057400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git/git</a:t>
            </a:r>
            <a:endParaRPr lang="en-US" sz="650" dirty="0"/>
          </a:p>
        </p:txBody>
      </p:sp>
      <p:sp>
        <p:nvSpPr>
          <p:cNvPr id="198" name="Git 198"/>
          <p:cNvSpPr/>
          <p:nvPr/>
        </p:nvSpPr>
        <p:spPr>
          <a:xfrm>
            <a:off x="10066020" y="1901952"/>
            <a:ext cx="292608" cy="292608"/>
          </a:xfrm>
          <a:prstGeom prst="ellipse">
            <a:avLst/>
          </a:prstGeom>
          <a:solidFill>
            <a:srgbClr val="A26D00"/>
          </a:solidFill>
          <a:ln/>
        </p:spPr>
      </p:sp>
      <p:pic>
        <p:nvPicPr>
          <p:cNvPr id="199" name="Git 199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130393" y="1966325"/>
            <a:ext cx="163860" cy="163860"/>
          </a:xfrm>
          <a:prstGeom prst="rect">
            <a:avLst/>
          </a:prstGeom>
        </p:spPr>
      </p:pic>
      <p:sp>
        <p:nvSpPr>
          <p:cNvPr id="200" name="python-magic 200"/>
          <p:cNvSpPr txBox="1"/>
          <p:nvPr/>
        </p:nvSpPr>
        <p:spPr>
          <a:xfrm>
            <a:off x="10541508" y="2240280"/>
            <a:ext cx="1181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python-magic</a:t>
            </a:r>
            <a:endParaRPr lang="en-US" sz="850" dirty="0"/>
          </a:p>
        </p:txBody>
      </p:sp>
      <p:sp>
        <p:nvSpPr>
          <p:cNvPr id="201" name="python-magic 201"/>
          <p:cNvSpPr txBox="1"/>
          <p:nvPr/>
        </p:nvSpPr>
        <p:spPr>
          <a:xfrm>
            <a:off x="10541508" y="2414016"/>
            <a:ext cx="1181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ahupp/python-magic</a:t>
            </a:r>
            <a:endParaRPr lang="en-US" sz="650" dirty="0"/>
          </a:p>
        </p:txBody>
      </p:sp>
      <p:sp>
        <p:nvSpPr>
          <p:cNvPr id="202" name="python-magic 202"/>
          <p:cNvSpPr/>
          <p:nvPr/>
        </p:nvSpPr>
        <p:spPr>
          <a:xfrm>
            <a:off x="10066020" y="2258568"/>
            <a:ext cx="292608" cy="292608"/>
          </a:xfrm>
          <a:prstGeom prst="ellipse">
            <a:avLst/>
          </a:prstGeom>
          <a:solidFill>
            <a:srgbClr val="A26D00"/>
          </a:solidFill>
          <a:ln/>
        </p:spPr>
      </p:sp>
      <p:pic>
        <p:nvPicPr>
          <p:cNvPr id="203" name="python-magic 20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130393" y="2322941"/>
            <a:ext cx="163860" cy="1638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92440" y="2743200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E0A21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092440" y="2743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REPO: github.com/[ADD REPO URL]</a:t>
            </a:r>
            <a:endParaRPr lang="en-US" sz="800" dirty="0"/>
          </a:p>
        </p:txBody>
      </p:sp>
      <p:sp>
        <p:nvSpPr>
          <p:cNvPr id="204" name="hdr 204"/>
          <p:cNvSpPr txBox="1"/>
          <p:nvPr/>
        </p:nvSpPr>
        <p:spPr>
          <a:xfrm>
            <a:off x="466344" y="914400"/>
            <a:ext cx="1802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D2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REPORTS</a:t>
            </a:r>
            <a:endParaRPr lang="en-US" sz="1000" dirty="0"/>
          </a:p>
        </p:txBody>
      </p:sp>
      <p:sp>
        <p:nvSpPr>
          <p:cNvPr id="205" name="hdr 205"/>
          <p:cNvSpPr txBox="1"/>
          <p:nvPr/>
        </p:nvSpPr>
        <p:spPr>
          <a:xfrm>
            <a:off x="2360676" y="914400"/>
            <a:ext cx="1802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6" name="div 206"/>
          <p:cNvSpPr/>
          <p:nvPr/>
        </p:nvSpPr>
        <p:spPr>
          <a:xfrm>
            <a:off x="2287524" y="950976"/>
            <a:ext cx="0" cy="1645920"/>
          </a:xfrm>
          <a:prstGeom prst="line">
            <a:avLst/>
          </a:prstGeom>
          <a:noFill/>
          <a:ln w="6350">
            <a:solidFill>
              <a:srgbClr val="D3DCE8"/>
            </a:solidFill>
            <a:prstDash val="solid"/>
          </a:ln>
        </p:spPr>
      </p:sp>
      <p:sp>
        <p:nvSpPr>
          <p:cNvPr id="207" name="hdr 207"/>
          <p:cNvSpPr txBox="1"/>
          <p:nvPr/>
        </p:nvSpPr>
        <p:spPr>
          <a:xfrm>
            <a:off x="4255008" y="914400"/>
            <a:ext cx="1802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STORAGE</a:t>
            </a:r>
            <a:endParaRPr lang="en-US" sz="1000" dirty="0"/>
          </a:p>
        </p:txBody>
      </p:sp>
      <p:sp>
        <p:nvSpPr>
          <p:cNvPr id="208" name="div 208"/>
          <p:cNvSpPr/>
          <p:nvPr/>
        </p:nvSpPr>
        <p:spPr>
          <a:xfrm>
            <a:off x="4181856" y="950976"/>
            <a:ext cx="0" cy="1645920"/>
          </a:xfrm>
          <a:prstGeom prst="line">
            <a:avLst/>
          </a:prstGeom>
          <a:noFill/>
          <a:ln w="6350">
            <a:solidFill>
              <a:srgbClr val="D3DCE8"/>
            </a:solidFill>
            <a:prstDash val="solid"/>
          </a:ln>
        </p:spPr>
      </p:sp>
      <p:sp>
        <p:nvSpPr>
          <p:cNvPr id="209" name="hdr 209"/>
          <p:cNvSpPr txBox="1"/>
          <p:nvPr/>
        </p:nvSpPr>
        <p:spPr>
          <a:xfrm>
            <a:off x="6149340" y="914400"/>
            <a:ext cx="1802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· ON-PREM</a:t>
            </a:r>
            <a:endParaRPr lang="en-US" sz="1000" dirty="0"/>
          </a:p>
        </p:txBody>
      </p:sp>
      <p:sp>
        <p:nvSpPr>
          <p:cNvPr id="210" name="div 210"/>
          <p:cNvSpPr/>
          <p:nvPr/>
        </p:nvSpPr>
        <p:spPr>
          <a:xfrm>
            <a:off x="6076188" y="950976"/>
            <a:ext cx="0" cy="1645920"/>
          </a:xfrm>
          <a:prstGeom prst="line">
            <a:avLst/>
          </a:prstGeom>
          <a:noFill/>
          <a:ln w="6350">
            <a:solidFill>
              <a:srgbClr val="D3DCE8"/>
            </a:solidFill>
            <a:prstDash val="solid"/>
          </a:ln>
        </p:spPr>
      </p:sp>
      <p:sp>
        <p:nvSpPr>
          <p:cNvPr id="211" name="hdr 211"/>
          <p:cNvSpPr txBox="1"/>
          <p:nvPr/>
        </p:nvSpPr>
        <p:spPr>
          <a:xfrm>
            <a:off x="8043672" y="914400"/>
            <a:ext cx="1802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POLICY</a:t>
            </a:r>
            <a:endParaRPr lang="en-US" sz="1000" dirty="0"/>
          </a:p>
        </p:txBody>
      </p:sp>
      <p:sp>
        <p:nvSpPr>
          <p:cNvPr id="212" name="div 212"/>
          <p:cNvSpPr/>
          <p:nvPr/>
        </p:nvSpPr>
        <p:spPr>
          <a:xfrm>
            <a:off x="7970520" y="950976"/>
            <a:ext cx="0" cy="1645920"/>
          </a:xfrm>
          <a:prstGeom prst="line">
            <a:avLst/>
          </a:prstGeom>
          <a:noFill/>
          <a:ln w="6350">
            <a:solidFill>
              <a:srgbClr val="D3DCE8"/>
            </a:solidFill>
            <a:prstDash val="solid"/>
          </a:ln>
        </p:spPr>
      </p:sp>
      <p:sp>
        <p:nvSpPr>
          <p:cNvPr id="213" name="hdr 213"/>
          <p:cNvSpPr txBox="1"/>
          <p:nvPr/>
        </p:nvSpPr>
        <p:spPr>
          <a:xfrm>
            <a:off x="9938004" y="914400"/>
            <a:ext cx="1802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A2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INFRA</a:t>
            </a:r>
            <a:endParaRPr lang="en-US" sz="1000" dirty="0"/>
          </a:p>
        </p:txBody>
      </p:sp>
      <p:sp>
        <p:nvSpPr>
          <p:cNvPr id="214" name="div 214"/>
          <p:cNvSpPr/>
          <p:nvPr/>
        </p:nvSpPr>
        <p:spPr>
          <a:xfrm>
            <a:off x="9864852" y="950976"/>
            <a:ext cx="0" cy="1645920"/>
          </a:xfrm>
          <a:prstGeom prst="line">
            <a:avLst/>
          </a:prstGeom>
          <a:noFill/>
          <a:ln w="6350">
            <a:solidFill>
              <a:srgbClr val="D3DC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28016"/>
            <a:ext cx="118872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28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No_Talks_IC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FEASIBILITY &amp; VIABILITY</a:t>
            </a:r>
            <a:endParaRPr lang="en-US" sz="1000" dirty="0"/>
          </a:p>
        </p:txBody>
      </p:sp>
      <p:pic>
        <p:nvPicPr>
          <p:cNvPr id="6" name="Image 0" descr="sih_log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1440"/>
            <a:ext cx="1572768" cy="7434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6FC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70248" y="6400800"/>
            <a:ext cx="3657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400800"/>
            <a:ext cx="914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6400800"/>
            <a:ext cx="3200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26155 · NetAudit Engine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11480" y="89611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→ MITIGATION STRATEGIES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1480" y="1188720"/>
            <a:ext cx="1874520" cy="402336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6350">
            <a:solidFill>
              <a:srgbClr val="E8B4A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11887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exceeds context window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313432" y="1307592"/>
            <a:ext cx="182880" cy="164592"/>
          </a:xfrm>
          <a:prstGeom prst="rightArrow">
            <a:avLst/>
          </a:prstGeom>
          <a:solidFill>
            <a:srgbClr val="9AA8BC"/>
          </a:solidFill>
          <a:ln/>
        </p:spPr>
      </p:sp>
      <p:sp>
        <p:nvSpPr>
          <p:cNvPr id="16" name="Shape 12"/>
          <p:cNvSpPr/>
          <p:nvPr/>
        </p:nvSpPr>
        <p:spPr>
          <a:xfrm>
            <a:off x="2523744" y="1188720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7F5EC"/>
          </a:solidFill>
          <a:ln w="6350">
            <a:solidFill>
              <a:srgbClr val="A9D8B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69464" y="11887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chunking: AAA, interfaces, crypto, ACL parsed separately, then merged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157216" y="1261872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E8A4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157216" y="12618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411480" y="1645920"/>
            <a:ext cx="1874520" cy="402336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6350">
            <a:solidFill>
              <a:srgbClr val="E8B4A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16459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locks the operator out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2313432" y="1764792"/>
            <a:ext cx="182880" cy="164592"/>
          </a:xfrm>
          <a:prstGeom prst="rightArrow">
            <a:avLst/>
          </a:prstGeom>
          <a:solidFill>
            <a:srgbClr val="9AA8BC"/>
          </a:solidFill>
          <a:ln/>
        </p:spPr>
      </p:sp>
      <p:sp>
        <p:nvSpPr>
          <p:cNvPr id="23" name="Shape 19"/>
          <p:cNvSpPr/>
          <p:nvPr/>
        </p:nvSpPr>
        <p:spPr>
          <a:xfrm>
            <a:off x="2523744" y="1645920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7F5EC"/>
          </a:solidFill>
          <a:ln w="6350">
            <a:solidFill>
              <a:srgbClr val="A9D8B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569464" y="16459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pre-flight; RISK_FLAGS blocked in the API (409); never auto-applied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157216" y="1719072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E8A4C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5157216" y="17190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411480" y="2103120"/>
            <a:ext cx="1874520" cy="402336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6350">
            <a:solidFill>
              <a:srgbClr val="E8B4A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" y="2103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/ wrong vendor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2313432" y="2221992"/>
            <a:ext cx="182880" cy="164592"/>
          </a:xfrm>
          <a:prstGeom prst="rightArrow">
            <a:avLst/>
          </a:prstGeom>
          <a:solidFill>
            <a:srgbClr val="9AA8BC"/>
          </a:solidFill>
          <a:ln/>
        </p:spPr>
      </p:sp>
      <p:sp>
        <p:nvSpPr>
          <p:cNvPr id="30" name="Shape 26"/>
          <p:cNvSpPr/>
          <p:nvPr/>
        </p:nvSpPr>
        <p:spPr>
          <a:xfrm>
            <a:off x="2523744" y="2103120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7F5EC"/>
          </a:solidFill>
          <a:ln w="6350">
            <a:solidFill>
              <a:srgbClr val="A9D8B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69464" y="21031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0.60 → human confirm; manual fallback; schema gate still applies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5157216" y="2176272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E8A4C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157216" y="21762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411480" y="2560320"/>
            <a:ext cx="1874520" cy="402336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6350">
            <a:solidFill>
              <a:srgbClr val="E8B4A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7200" y="25603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inside configs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2313432" y="2679192"/>
            <a:ext cx="182880" cy="164592"/>
          </a:xfrm>
          <a:prstGeom prst="rightArrow">
            <a:avLst/>
          </a:prstGeom>
          <a:solidFill>
            <a:srgbClr val="9AA8BC"/>
          </a:solidFill>
          <a:ln/>
        </p:spPr>
      </p:sp>
      <p:sp>
        <p:nvSpPr>
          <p:cNvPr id="37" name="Shape 33"/>
          <p:cNvSpPr/>
          <p:nvPr/>
        </p:nvSpPr>
        <p:spPr>
          <a:xfrm>
            <a:off x="2523744" y="2560320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7F5EC"/>
          </a:solidFill>
          <a:ln w="6350">
            <a:solidFill>
              <a:srgbClr val="A9D8B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2569464" y="25603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captured pre-redaction, stored masked (last-4 + position + hash)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5157216" y="2633472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E8A4C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5157216" y="26334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v2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411480" y="3017520"/>
            <a:ext cx="1874520" cy="402336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6350">
            <a:solidFill>
              <a:srgbClr val="E8B4A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57200" y="30175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config → valid-but-wrong object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313432" y="3136392"/>
            <a:ext cx="182880" cy="164592"/>
          </a:xfrm>
          <a:prstGeom prst="rightArrow">
            <a:avLst/>
          </a:prstGeom>
          <a:solidFill>
            <a:srgbClr val="9AA8BC"/>
          </a:solidFill>
          <a:ln/>
        </p:spPr>
      </p:sp>
      <p:sp>
        <p:nvSpPr>
          <p:cNvPr id="44" name="Shape 40"/>
          <p:cNvSpPr/>
          <p:nvPr/>
        </p:nvSpPr>
        <p:spPr>
          <a:xfrm>
            <a:off x="2523744" y="3017520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7F5EC"/>
          </a:solidFill>
          <a:ln w="6350">
            <a:solidFill>
              <a:srgbClr val="A9D8BA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569464" y="30175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TextFSM ∥ SLM cross-check + anomaly score; every finding cites the raw line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5157216" y="3090672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B7800A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5157216" y="30906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Mitigated, not closed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411480" y="3474720"/>
            <a:ext cx="1874520" cy="402336"/>
          </a:xfrm>
          <a:prstGeom prst="roundRect">
            <a:avLst>
              <a:gd name="adj" fmla="val 11364"/>
            </a:avLst>
          </a:prstGeom>
          <a:solidFill>
            <a:srgbClr val="FDECEA"/>
          </a:solidFill>
          <a:ln w="6350">
            <a:solidFill>
              <a:srgbClr val="E8B4AE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57200" y="34747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not yet measured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2313432" y="3593592"/>
            <a:ext cx="182880" cy="164592"/>
          </a:xfrm>
          <a:prstGeom prst="rightArrow">
            <a:avLst/>
          </a:prstGeom>
          <a:solidFill>
            <a:srgbClr val="9AA8BC"/>
          </a:solidFill>
          <a:ln/>
        </p:spPr>
      </p:sp>
      <p:sp>
        <p:nvSpPr>
          <p:cNvPr id="51" name="Shape 47"/>
          <p:cNvSpPr/>
          <p:nvPr/>
        </p:nvSpPr>
        <p:spPr>
          <a:xfrm>
            <a:off x="2523744" y="3474720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7F5EC"/>
          </a:solidFill>
          <a:ln w="6350">
            <a:solidFill>
              <a:srgbClr val="A9D8B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2569464" y="347472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corpus + benchmark harness from week 1; publish with the dataset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5157216" y="3547872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5157216" y="354787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55" name="Text 51"/>
          <p:cNvSpPr txBox="1"/>
          <p:nvPr/>
        </p:nvSpPr>
        <p:spPr>
          <a:xfrm>
            <a:off x="411480" y="398678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— BUILT TODAY &amp; 12-WEEK PLAN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411480" y="4261104"/>
            <a:ext cx="1819656" cy="713232"/>
          </a:xfrm>
          <a:prstGeom prst="roundRect">
            <a:avLst>
              <a:gd name="adj" fmla="val 6410"/>
            </a:avLst>
          </a:prstGeom>
          <a:solidFill>
            <a:srgbClr val="E7F5EC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466344" y="4261104"/>
            <a:ext cx="1728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verdict path (CIS IOS L1) · 11 fix templates · 409 approval gate · PDF + CEF export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2304288" y="4261104"/>
            <a:ext cx="1819656" cy="713232"/>
          </a:xfrm>
          <a:prstGeom prst="roundRect">
            <a:avLst>
              <a:gd name="adj" fmla="val 6410"/>
            </a:avLst>
          </a:prstGeom>
          <a:solidFill>
            <a:srgbClr val="FDF4DF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2359152" y="4261104"/>
            <a:ext cx="1728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(mock Batfish) · bundle-version provenance · ledger redesign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4197096" y="4261104"/>
            <a:ext cx="1819656" cy="713232"/>
          </a:xfrm>
          <a:prstGeom prst="roundRect">
            <a:avLst>
              <a:gd name="adj" fmla="val 6410"/>
            </a:avLst>
          </a:prstGeom>
          <a:solidFill>
            <a:srgbClr val="FDECE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4251960" y="4261104"/>
            <a:ext cx="1728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vendors via mapping GUI · NIST / STIG bundles · benchmark harness</a:t>
            </a:r>
            <a:endParaRPr lang="en-US" sz="750" dirty="0"/>
          </a:p>
        </p:txBody>
      </p:sp>
      <p:sp>
        <p:nvSpPr>
          <p:cNvPr id="62" name="Text 58"/>
          <p:cNvSpPr txBox="1"/>
          <p:nvPr/>
        </p:nvSpPr>
        <p:spPr>
          <a:xfrm>
            <a:off x="2423160" y="5029200"/>
            <a:ext cx="300990" cy="164592"/>
          </a:xfrm>
          <a:prstGeom prst="rect">
            <a:avLst/>
          </a:prstGeom>
          <a:solidFill>
            <a:srgbClr val="E9EE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650" dirty="0"/>
          </a:p>
        </p:txBody>
      </p:sp>
      <p:sp>
        <p:nvSpPr>
          <p:cNvPr id="63" name="Text 59"/>
          <p:cNvSpPr txBox="1"/>
          <p:nvPr/>
        </p:nvSpPr>
        <p:spPr>
          <a:xfrm>
            <a:off x="2724150" y="5029200"/>
            <a:ext cx="300990" cy="164592"/>
          </a:xfrm>
          <a:prstGeom prst="rect">
            <a:avLst/>
          </a:prstGeom>
          <a:solidFill>
            <a:srgbClr val="DCE4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650" dirty="0"/>
          </a:p>
        </p:txBody>
      </p:sp>
      <p:sp>
        <p:nvSpPr>
          <p:cNvPr id="64" name="Text 60"/>
          <p:cNvSpPr txBox="1"/>
          <p:nvPr/>
        </p:nvSpPr>
        <p:spPr>
          <a:xfrm>
            <a:off x="3025140" y="5029200"/>
            <a:ext cx="300990" cy="164592"/>
          </a:xfrm>
          <a:prstGeom prst="rect">
            <a:avLst/>
          </a:prstGeom>
          <a:solidFill>
            <a:srgbClr val="E9EE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650" dirty="0"/>
          </a:p>
        </p:txBody>
      </p:sp>
      <p:sp>
        <p:nvSpPr>
          <p:cNvPr id="65" name="Text 61"/>
          <p:cNvSpPr txBox="1"/>
          <p:nvPr/>
        </p:nvSpPr>
        <p:spPr>
          <a:xfrm>
            <a:off x="3326130" y="5029200"/>
            <a:ext cx="300990" cy="164592"/>
          </a:xfrm>
          <a:prstGeom prst="rect">
            <a:avLst/>
          </a:prstGeom>
          <a:solidFill>
            <a:srgbClr val="DCE4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650" dirty="0"/>
          </a:p>
        </p:txBody>
      </p:sp>
      <p:sp>
        <p:nvSpPr>
          <p:cNvPr id="66" name="Text 62"/>
          <p:cNvSpPr txBox="1"/>
          <p:nvPr/>
        </p:nvSpPr>
        <p:spPr>
          <a:xfrm>
            <a:off x="3627120" y="5029200"/>
            <a:ext cx="300990" cy="164592"/>
          </a:xfrm>
          <a:prstGeom prst="rect">
            <a:avLst/>
          </a:prstGeom>
          <a:solidFill>
            <a:srgbClr val="E9EE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650" dirty="0"/>
          </a:p>
        </p:txBody>
      </p:sp>
      <p:sp>
        <p:nvSpPr>
          <p:cNvPr id="67" name="Text 63"/>
          <p:cNvSpPr txBox="1"/>
          <p:nvPr/>
        </p:nvSpPr>
        <p:spPr>
          <a:xfrm>
            <a:off x="3928110" y="5029200"/>
            <a:ext cx="300990" cy="164592"/>
          </a:xfrm>
          <a:prstGeom prst="rect">
            <a:avLst/>
          </a:prstGeom>
          <a:solidFill>
            <a:srgbClr val="DCE4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650" dirty="0"/>
          </a:p>
        </p:txBody>
      </p:sp>
      <p:sp>
        <p:nvSpPr>
          <p:cNvPr id="68" name="Text 64"/>
          <p:cNvSpPr txBox="1"/>
          <p:nvPr/>
        </p:nvSpPr>
        <p:spPr>
          <a:xfrm>
            <a:off x="4229100" y="5029200"/>
            <a:ext cx="300990" cy="164592"/>
          </a:xfrm>
          <a:prstGeom prst="rect">
            <a:avLst/>
          </a:prstGeom>
          <a:solidFill>
            <a:srgbClr val="E9EE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650" dirty="0"/>
          </a:p>
        </p:txBody>
      </p:sp>
      <p:sp>
        <p:nvSpPr>
          <p:cNvPr id="69" name="Text 65"/>
          <p:cNvSpPr txBox="1"/>
          <p:nvPr/>
        </p:nvSpPr>
        <p:spPr>
          <a:xfrm>
            <a:off x="4530090" y="5029200"/>
            <a:ext cx="300990" cy="164592"/>
          </a:xfrm>
          <a:prstGeom prst="rect">
            <a:avLst/>
          </a:prstGeom>
          <a:solidFill>
            <a:srgbClr val="DCE4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650" dirty="0"/>
          </a:p>
        </p:txBody>
      </p:sp>
      <p:sp>
        <p:nvSpPr>
          <p:cNvPr id="70" name="Text 66"/>
          <p:cNvSpPr txBox="1"/>
          <p:nvPr/>
        </p:nvSpPr>
        <p:spPr>
          <a:xfrm>
            <a:off x="4831080" y="5029200"/>
            <a:ext cx="300990" cy="164592"/>
          </a:xfrm>
          <a:prstGeom prst="rect">
            <a:avLst/>
          </a:prstGeom>
          <a:solidFill>
            <a:srgbClr val="E9EE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650" dirty="0"/>
          </a:p>
        </p:txBody>
      </p:sp>
      <p:sp>
        <p:nvSpPr>
          <p:cNvPr id="71" name="Text 67"/>
          <p:cNvSpPr txBox="1"/>
          <p:nvPr/>
        </p:nvSpPr>
        <p:spPr>
          <a:xfrm>
            <a:off x="5132070" y="5029200"/>
            <a:ext cx="300990" cy="164592"/>
          </a:xfrm>
          <a:prstGeom prst="rect">
            <a:avLst/>
          </a:prstGeom>
          <a:solidFill>
            <a:srgbClr val="DCE4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650" dirty="0"/>
          </a:p>
        </p:txBody>
      </p:sp>
      <p:sp>
        <p:nvSpPr>
          <p:cNvPr id="72" name="Text 68"/>
          <p:cNvSpPr txBox="1"/>
          <p:nvPr/>
        </p:nvSpPr>
        <p:spPr>
          <a:xfrm>
            <a:off x="5433060" y="5029200"/>
            <a:ext cx="300990" cy="164592"/>
          </a:xfrm>
          <a:prstGeom prst="rect">
            <a:avLst/>
          </a:prstGeom>
          <a:solidFill>
            <a:srgbClr val="E9EE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650" dirty="0"/>
          </a:p>
        </p:txBody>
      </p:sp>
      <p:sp>
        <p:nvSpPr>
          <p:cNvPr id="73" name="Text 69"/>
          <p:cNvSpPr txBox="1"/>
          <p:nvPr/>
        </p:nvSpPr>
        <p:spPr>
          <a:xfrm>
            <a:off x="5734050" y="5029200"/>
            <a:ext cx="300990" cy="164592"/>
          </a:xfrm>
          <a:prstGeom prst="rect">
            <a:avLst/>
          </a:prstGeom>
          <a:solidFill>
            <a:srgbClr val="DCE4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650" dirty="0"/>
          </a:p>
        </p:txBody>
      </p:sp>
      <p:sp>
        <p:nvSpPr>
          <p:cNvPr id="74" name="Text 70"/>
          <p:cNvSpPr txBox="1"/>
          <p:nvPr/>
        </p:nvSpPr>
        <p:spPr>
          <a:xfrm>
            <a:off x="411480" y="52212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gate · sandbox · credential fix</a:t>
            </a:r>
            <a:endParaRPr lang="en-US" sz="700" dirty="0"/>
          </a:p>
        </p:txBody>
      </p:sp>
      <p:sp>
        <p:nvSpPr>
          <p:cNvPr id="75" name="Shape 71"/>
          <p:cNvSpPr/>
          <p:nvPr/>
        </p:nvSpPr>
        <p:spPr>
          <a:xfrm>
            <a:off x="2423160" y="5239512"/>
            <a:ext cx="574548" cy="128016"/>
          </a:xfrm>
          <a:prstGeom prst="roundRect">
            <a:avLst>
              <a:gd name="adj" fmla="val 21429"/>
            </a:avLst>
          </a:prstGeom>
          <a:solidFill>
            <a:srgbClr val="1F6FB2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411480" y="53949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</a:t>
            </a:r>
            <a:endParaRPr lang="en-US" sz="700" dirty="0"/>
          </a:p>
        </p:txBody>
      </p:sp>
      <p:sp>
        <p:nvSpPr>
          <p:cNvPr id="77" name="Shape 73"/>
          <p:cNvSpPr/>
          <p:nvPr/>
        </p:nvSpPr>
        <p:spPr>
          <a:xfrm>
            <a:off x="2423160" y="5413248"/>
            <a:ext cx="1176528" cy="128016"/>
          </a:xfrm>
          <a:prstGeom prst="roundRect">
            <a:avLst>
              <a:gd name="adj" fmla="val 21429"/>
            </a:avLst>
          </a:prstGeom>
          <a:solidFill>
            <a:srgbClr val="1E8A4C"/>
          </a:solidFill>
          <a:ln/>
        </p:spPr>
      </p:sp>
      <p:sp>
        <p:nvSpPr>
          <p:cNvPr id="78" name="Text 74"/>
          <p:cNvSpPr txBox="1"/>
          <p:nvPr/>
        </p:nvSpPr>
        <p:spPr>
          <a:xfrm>
            <a:off x="411480" y="55686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+ benchmark harness (2)</a:t>
            </a:r>
            <a:endParaRPr lang="en-US" sz="700" dirty="0"/>
          </a:p>
        </p:txBody>
      </p:sp>
      <p:sp>
        <p:nvSpPr>
          <p:cNvPr id="79" name="Shape 75"/>
          <p:cNvSpPr/>
          <p:nvPr/>
        </p:nvSpPr>
        <p:spPr>
          <a:xfrm>
            <a:off x="2423160" y="5586984"/>
            <a:ext cx="3584448" cy="128016"/>
          </a:xfrm>
          <a:prstGeom prst="roundRect">
            <a:avLst>
              <a:gd name="adj" fmla="val 21429"/>
            </a:avLst>
          </a:prstGeom>
          <a:solidFill>
            <a:srgbClr val="6C3FA0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411480" y="57424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/ TextFSM cross-check</a:t>
            </a:r>
            <a:endParaRPr lang="en-US" sz="700" dirty="0"/>
          </a:p>
        </p:txBody>
      </p:sp>
      <p:sp>
        <p:nvSpPr>
          <p:cNvPr id="81" name="Shape 77"/>
          <p:cNvSpPr/>
          <p:nvPr/>
        </p:nvSpPr>
        <p:spPr>
          <a:xfrm>
            <a:off x="2423160" y="5760720"/>
            <a:ext cx="1778508" cy="128016"/>
          </a:xfrm>
          <a:prstGeom prst="roundRect">
            <a:avLst>
              <a:gd name="adj" fmla="val 21429"/>
            </a:avLst>
          </a:prstGeom>
          <a:solidFill>
            <a:srgbClr val="0E7C86"/>
          </a:solidFill>
          <a:ln/>
        </p:spPr>
      </p:sp>
      <p:sp>
        <p:nvSpPr>
          <p:cNvPr id="82" name="Text 78"/>
          <p:cNvSpPr txBox="1"/>
          <p:nvPr/>
        </p:nvSpPr>
        <p:spPr>
          <a:xfrm>
            <a:off x="411480" y="59161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Vendor-mapping GUI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3326130" y="5934456"/>
            <a:ext cx="1778508" cy="128016"/>
          </a:xfrm>
          <a:prstGeom prst="roundRect">
            <a:avLst>
              <a:gd name="adj" fmla="val 21429"/>
            </a:avLst>
          </a:prstGeom>
          <a:solidFill>
            <a:srgbClr val="D2601A"/>
          </a:solidFill>
          <a:ln/>
        </p:spPr>
      </p:sp>
      <p:sp>
        <p:nvSpPr>
          <p:cNvPr id="84" name="Text 80"/>
          <p:cNvSpPr txBox="1"/>
          <p:nvPr/>
        </p:nvSpPr>
        <p:spPr>
          <a:xfrm>
            <a:off x="411480" y="608990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· QA · demo (all 6)</a:t>
            </a:r>
            <a:endParaRPr lang="en-US" sz="700" dirty="0"/>
          </a:p>
        </p:txBody>
      </p:sp>
      <p:sp>
        <p:nvSpPr>
          <p:cNvPr id="85" name="Shape 81"/>
          <p:cNvSpPr/>
          <p:nvPr/>
        </p:nvSpPr>
        <p:spPr>
          <a:xfrm>
            <a:off x="5132070" y="6108192"/>
            <a:ext cx="875538" cy="128016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6217920" y="8961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POTENTIAL — DEFENCE IN DEPTH</a:t>
            </a:r>
            <a:endParaRPr lang="en-US" sz="950" dirty="0"/>
          </a:p>
        </p:txBody>
      </p:sp>
      <p:sp>
        <p:nvSpPr>
          <p:cNvPr id="87" name="Shape 83"/>
          <p:cNvSpPr/>
          <p:nvPr/>
        </p:nvSpPr>
        <p:spPr>
          <a:xfrm>
            <a:off x="6217920" y="1170432"/>
            <a:ext cx="1170432" cy="310896"/>
          </a:xfrm>
          <a:prstGeom prst="homePlate">
            <a:avLst/>
          </a:prstGeom>
          <a:solidFill>
            <a:srgbClr val="6E8DB8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6263640" y="1170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</a:t>
            </a:r>
            <a:endParaRPr lang="en-US" sz="700" dirty="0"/>
          </a:p>
        </p:txBody>
      </p:sp>
      <p:sp>
        <p:nvSpPr>
          <p:cNvPr id="89" name="Shape 85"/>
          <p:cNvSpPr/>
          <p:nvPr/>
        </p:nvSpPr>
        <p:spPr>
          <a:xfrm>
            <a:off x="7315200" y="1170432"/>
            <a:ext cx="1170432" cy="310896"/>
          </a:xfrm>
          <a:prstGeom prst="chevron">
            <a:avLst/>
          </a:prstGeom>
          <a:solidFill>
            <a:srgbClr val="4F72A3"/>
          </a:solidFill>
          <a:ln/>
        </p:spPr>
      </p:sp>
      <p:sp>
        <p:nvSpPr>
          <p:cNvPr id="90" name="Text 86"/>
          <p:cNvSpPr txBox="1"/>
          <p:nvPr/>
        </p:nvSpPr>
        <p:spPr>
          <a:xfrm>
            <a:off x="7498080" y="1170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GATE</a:t>
            </a:r>
            <a:endParaRPr lang="en-US" sz="700" dirty="0"/>
          </a:p>
        </p:txBody>
      </p:sp>
      <p:sp>
        <p:nvSpPr>
          <p:cNvPr id="91" name="Shape 87"/>
          <p:cNvSpPr/>
          <p:nvPr/>
        </p:nvSpPr>
        <p:spPr>
          <a:xfrm>
            <a:off x="8412480" y="1170432"/>
            <a:ext cx="1170432" cy="310896"/>
          </a:xfrm>
          <a:prstGeom prst="chevron">
            <a:avLst/>
          </a:prstGeom>
          <a:solidFill>
            <a:srgbClr val="34557F"/>
          </a:solidFill>
          <a:ln/>
        </p:spPr>
      </p:sp>
      <p:sp>
        <p:nvSpPr>
          <p:cNvPr id="92" name="Text 88"/>
          <p:cNvSpPr txBox="1"/>
          <p:nvPr/>
        </p:nvSpPr>
        <p:spPr>
          <a:xfrm>
            <a:off x="8595360" y="1170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700" dirty="0"/>
          </a:p>
        </p:txBody>
      </p:sp>
      <p:sp>
        <p:nvSpPr>
          <p:cNvPr id="93" name="Shape 89"/>
          <p:cNvSpPr/>
          <p:nvPr/>
        </p:nvSpPr>
        <p:spPr>
          <a:xfrm>
            <a:off x="9509760" y="1170432"/>
            <a:ext cx="1170432" cy="310896"/>
          </a:xfrm>
          <a:prstGeom prst="chevron">
            <a:avLst/>
          </a:prstGeom>
          <a:solidFill>
            <a:srgbClr val="0E7C86"/>
          </a:solidFill>
          <a:ln/>
        </p:spPr>
      </p:sp>
      <p:sp>
        <p:nvSpPr>
          <p:cNvPr id="94" name="Text 90"/>
          <p:cNvSpPr txBox="1"/>
          <p:nvPr/>
        </p:nvSpPr>
        <p:spPr>
          <a:xfrm>
            <a:off x="9692640" y="1170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GATE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10607040" y="1170432"/>
            <a:ext cx="1170432" cy="310896"/>
          </a:xfrm>
          <a:prstGeom prst="chevron">
            <a:avLst/>
          </a:prstGeom>
          <a:solidFill>
            <a:srgbClr val="1E8A4C"/>
          </a:solidFill>
          <a:ln/>
        </p:spPr>
      </p:sp>
      <p:sp>
        <p:nvSpPr>
          <p:cNvPr id="96" name="Text 92"/>
          <p:cNvSpPr txBox="1"/>
          <p:nvPr/>
        </p:nvSpPr>
        <p:spPr>
          <a:xfrm>
            <a:off x="10789920" y="1170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VERDICT</a:t>
            </a:r>
            <a:endParaRPr lang="en-US" sz="700" dirty="0"/>
          </a:p>
        </p:txBody>
      </p:sp>
      <p:sp>
        <p:nvSpPr>
          <p:cNvPr id="97" name="Shape 93"/>
          <p:cNvSpPr/>
          <p:nvPr/>
        </p:nvSpPr>
        <p:spPr>
          <a:xfrm>
            <a:off x="6217920" y="1572768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/>
        </p:spPr>
      </p:sp>
      <p:sp>
        <p:nvSpPr>
          <p:cNvPr id="98" name="Shape 94"/>
          <p:cNvSpPr/>
          <p:nvPr/>
        </p:nvSpPr>
        <p:spPr>
          <a:xfrm>
            <a:off x="6272784" y="1664208"/>
            <a:ext cx="365760" cy="365760"/>
          </a:xfrm>
          <a:prstGeom prst="ellipse">
            <a:avLst/>
          </a:prstGeom>
          <a:solidFill>
            <a:srgbClr val="1F3456"/>
          </a:solidFill>
          <a:ln/>
        </p:spPr>
      </p:sp>
      <p:pic>
        <p:nvPicPr>
          <p:cNvPr id="9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251" y="1744675"/>
            <a:ext cx="204826" cy="204826"/>
          </a:xfrm>
          <a:prstGeom prst="rect">
            <a:avLst/>
          </a:prstGeom>
        </p:spPr>
      </p:pic>
      <p:sp>
        <p:nvSpPr>
          <p:cNvPr id="100" name="Text 95"/>
          <p:cNvSpPr txBox="1"/>
          <p:nvPr/>
        </p:nvSpPr>
        <p:spPr>
          <a:xfrm>
            <a:off x="6693408" y="157276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 </a:t>
            </a: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/ oversized input → timeout, size cap, bounded subprocess</a:t>
            </a:r>
            <a:endParaRPr lang="en-US" sz="750" dirty="0"/>
          </a:p>
        </p:txBody>
      </p:sp>
      <p:sp>
        <p:nvSpPr>
          <p:cNvPr id="101" name="Shape 96"/>
          <p:cNvSpPr/>
          <p:nvPr/>
        </p:nvSpPr>
        <p:spPr>
          <a:xfrm>
            <a:off x="9034272" y="1572768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/>
        </p:spPr>
      </p:sp>
      <p:sp>
        <p:nvSpPr>
          <p:cNvPr id="102" name="Shape 97"/>
          <p:cNvSpPr/>
          <p:nvPr/>
        </p:nvSpPr>
        <p:spPr>
          <a:xfrm>
            <a:off x="9089136" y="1664208"/>
            <a:ext cx="365760" cy="365760"/>
          </a:xfrm>
          <a:prstGeom prst="ellipse">
            <a:avLst/>
          </a:prstGeom>
          <a:solidFill>
            <a:srgbClr val="1F3456"/>
          </a:solidFill>
          <a:ln/>
        </p:spPr>
      </p:sp>
      <p:pic>
        <p:nvPicPr>
          <p:cNvPr id="10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9603" y="1744675"/>
            <a:ext cx="204826" cy="204826"/>
          </a:xfrm>
          <a:prstGeom prst="rect">
            <a:avLst/>
          </a:prstGeom>
        </p:spPr>
      </p:pic>
      <p:sp>
        <p:nvSpPr>
          <p:cNvPr id="104" name="Text 98"/>
          <p:cNvSpPr txBox="1"/>
          <p:nvPr/>
        </p:nvSpPr>
        <p:spPr>
          <a:xfrm>
            <a:off x="9509760" y="157276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input  </a:t>
            </a: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valid-but-wrong object → TextFSM cross-check + anomaly score</a:t>
            </a:r>
            <a:endParaRPr lang="en-US" sz="750" dirty="0"/>
          </a:p>
        </p:txBody>
      </p:sp>
      <p:sp>
        <p:nvSpPr>
          <p:cNvPr id="105" name="Shape 99"/>
          <p:cNvSpPr/>
          <p:nvPr/>
        </p:nvSpPr>
        <p:spPr>
          <a:xfrm>
            <a:off x="6217920" y="2176272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/>
        </p:spPr>
      </p:sp>
      <p:sp>
        <p:nvSpPr>
          <p:cNvPr id="106" name="Shape 100"/>
          <p:cNvSpPr/>
          <p:nvPr/>
        </p:nvSpPr>
        <p:spPr>
          <a:xfrm>
            <a:off x="6272784" y="2267712"/>
            <a:ext cx="365760" cy="365760"/>
          </a:xfrm>
          <a:prstGeom prst="ellipse">
            <a:avLst/>
          </a:prstGeom>
          <a:solidFill>
            <a:srgbClr val="1F3456"/>
          </a:solidFill>
          <a:ln/>
        </p:spPr>
      </p:sp>
      <p:pic>
        <p:nvPicPr>
          <p:cNvPr id="10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251" y="2348179"/>
            <a:ext cx="204826" cy="204826"/>
          </a:xfrm>
          <a:prstGeom prst="rect">
            <a:avLst/>
          </a:prstGeom>
        </p:spPr>
      </p:pic>
      <p:sp>
        <p:nvSpPr>
          <p:cNvPr id="108" name="Text 101"/>
          <p:cNvSpPr txBox="1"/>
          <p:nvPr/>
        </p:nvSpPr>
        <p:spPr>
          <a:xfrm>
            <a:off x="6693408" y="21762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 </a:t>
            </a: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injection → SandboxedEnvironment, values only as variables</a:t>
            </a:r>
            <a:endParaRPr lang="en-US" sz="750" dirty="0"/>
          </a:p>
        </p:txBody>
      </p:sp>
      <p:sp>
        <p:nvSpPr>
          <p:cNvPr id="109" name="Shape 102"/>
          <p:cNvSpPr/>
          <p:nvPr/>
        </p:nvSpPr>
        <p:spPr>
          <a:xfrm>
            <a:off x="9034272" y="2176272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/>
        </p:spPr>
      </p:sp>
      <p:sp>
        <p:nvSpPr>
          <p:cNvPr id="110" name="Shape 103"/>
          <p:cNvSpPr/>
          <p:nvPr/>
        </p:nvSpPr>
        <p:spPr>
          <a:xfrm>
            <a:off x="9089136" y="2267712"/>
            <a:ext cx="365760" cy="365760"/>
          </a:xfrm>
          <a:prstGeom prst="ellipse">
            <a:avLst/>
          </a:prstGeom>
          <a:solidFill>
            <a:srgbClr val="1F3456"/>
          </a:solidFill>
          <a:ln/>
        </p:spPr>
      </p:sp>
      <p:pic>
        <p:nvPicPr>
          <p:cNvPr id="1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9603" y="2348179"/>
            <a:ext cx="204826" cy="204826"/>
          </a:xfrm>
          <a:prstGeom prst="rect">
            <a:avLst/>
          </a:prstGeom>
        </p:spPr>
      </p:pic>
      <p:sp>
        <p:nvSpPr>
          <p:cNvPr id="112" name="Text 104"/>
          <p:cNvSpPr txBox="1"/>
          <p:nvPr/>
        </p:nvSpPr>
        <p:spPr>
          <a:xfrm>
            <a:off x="9509760" y="21762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 </a:t>
            </a: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/ binaries posing as configs → MIME allowlist, decompress cap</a:t>
            </a:r>
            <a:endParaRPr lang="en-US" sz="750" dirty="0"/>
          </a:p>
        </p:txBody>
      </p:sp>
      <p:sp>
        <p:nvSpPr>
          <p:cNvPr id="113" name="Text 105"/>
          <p:cNvSpPr txBox="1"/>
          <p:nvPr/>
        </p:nvSpPr>
        <p:spPr>
          <a:xfrm>
            <a:off x="6217920" y="283464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50" dirty="0"/>
          </a:p>
        </p:txBody>
      </p:sp>
      <p:sp>
        <p:nvSpPr>
          <p:cNvPr id="114" name="Shape 106"/>
          <p:cNvSpPr/>
          <p:nvPr/>
        </p:nvSpPr>
        <p:spPr>
          <a:xfrm>
            <a:off x="6217920" y="3108960"/>
            <a:ext cx="13258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1F3456"/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6272784" y="3163824"/>
            <a:ext cx="310896" cy="310896"/>
          </a:xfrm>
          <a:prstGeom prst="ellipse">
            <a:avLst/>
          </a:prstGeom>
          <a:solidFill>
            <a:srgbClr val="1F3456"/>
          </a:solidFill>
          <a:ln/>
        </p:spPr>
      </p:sp>
      <p:pic>
        <p:nvPicPr>
          <p:cNvPr id="1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181" y="3232221"/>
            <a:ext cx="174102" cy="174102"/>
          </a:xfrm>
          <a:prstGeom prst="rect">
            <a:avLst/>
          </a:prstGeom>
        </p:spPr>
      </p:pic>
      <p:sp>
        <p:nvSpPr>
          <p:cNvPr id="117" name="Text 108"/>
          <p:cNvSpPr txBox="1"/>
          <p:nvPr/>
        </p:nvSpPr>
        <p:spPr>
          <a:xfrm>
            <a:off x="6620256" y="314553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/ defence ops</a:t>
            </a:r>
            <a:endParaRPr lang="en-US" sz="750" dirty="0"/>
          </a:p>
        </p:txBody>
      </p:sp>
      <p:sp>
        <p:nvSpPr>
          <p:cNvPr id="118" name="Text 109"/>
          <p:cNvSpPr txBox="1"/>
          <p:nvPr/>
        </p:nvSpPr>
        <p:spPr>
          <a:xfrm>
            <a:off x="6272784" y="351129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offline configs vs CIS / STIG / NIST</a:t>
            </a:r>
            <a:endParaRPr lang="en-US" sz="750" dirty="0"/>
          </a:p>
        </p:txBody>
      </p:sp>
      <p:sp>
        <p:nvSpPr>
          <p:cNvPr id="119" name="Shape 110"/>
          <p:cNvSpPr/>
          <p:nvPr/>
        </p:nvSpPr>
        <p:spPr>
          <a:xfrm>
            <a:off x="7616952" y="3108960"/>
            <a:ext cx="13258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6C3FA0"/>
            </a:solidFill>
            <a:prstDash val="solid"/>
          </a:ln>
        </p:spPr>
      </p:sp>
      <p:sp>
        <p:nvSpPr>
          <p:cNvPr id="120" name="Shape 111"/>
          <p:cNvSpPr/>
          <p:nvPr/>
        </p:nvSpPr>
        <p:spPr>
          <a:xfrm>
            <a:off x="7671816" y="3163824"/>
            <a:ext cx="310896" cy="310896"/>
          </a:xfrm>
          <a:prstGeom prst="ellipse">
            <a:avLst/>
          </a:prstGeom>
          <a:solidFill>
            <a:srgbClr val="6C3FA0"/>
          </a:solidFill>
          <a:ln/>
        </p:spPr>
      </p:sp>
      <p:pic>
        <p:nvPicPr>
          <p:cNvPr id="1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0213" y="3232221"/>
            <a:ext cx="174102" cy="174102"/>
          </a:xfrm>
          <a:prstGeom prst="rect">
            <a:avLst/>
          </a:prstGeom>
        </p:spPr>
      </p:pic>
      <p:sp>
        <p:nvSpPr>
          <p:cNvPr id="122" name="Text 112"/>
          <p:cNvSpPr txBox="1"/>
          <p:nvPr/>
        </p:nvSpPr>
        <p:spPr>
          <a:xfrm>
            <a:off x="8019288" y="314553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auditor</a:t>
            </a:r>
            <a:endParaRPr lang="en-US" sz="750" dirty="0"/>
          </a:p>
        </p:txBody>
      </p:sp>
      <p:sp>
        <p:nvSpPr>
          <p:cNvPr id="123" name="Text 113"/>
          <p:cNvSpPr txBox="1"/>
          <p:nvPr/>
        </p:nvSpPr>
        <p:spPr>
          <a:xfrm>
            <a:off x="7671816" y="351129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evidence-linked, re-runnable findings</a:t>
            </a:r>
            <a:endParaRPr lang="en-US" sz="750" dirty="0"/>
          </a:p>
        </p:txBody>
      </p:sp>
      <p:sp>
        <p:nvSpPr>
          <p:cNvPr id="124" name="Shape 114"/>
          <p:cNvSpPr/>
          <p:nvPr/>
        </p:nvSpPr>
        <p:spPr>
          <a:xfrm>
            <a:off x="9015984" y="3108960"/>
            <a:ext cx="13258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2601A"/>
            </a:solidFill>
            <a:prstDash val="solid"/>
          </a:ln>
        </p:spPr>
      </p:sp>
      <p:sp>
        <p:nvSpPr>
          <p:cNvPr id="125" name="Shape 115"/>
          <p:cNvSpPr/>
          <p:nvPr/>
        </p:nvSpPr>
        <p:spPr>
          <a:xfrm>
            <a:off x="9070848" y="3163824"/>
            <a:ext cx="310896" cy="310896"/>
          </a:xfrm>
          <a:prstGeom prst="ellipse">
            <a:avLst/>
          </a:prstGeom>
          <a:solidFill>
            <a:srgbClr val="D2601A"/>
          </a:solidFill>
          <a:ln/>
        </p:spPr>
      </p:sp>
      <p:pic>
        <p:nvPicPr>
          <p:cNvPr id="1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9245" y="3232221"/>
            <a:ext cx="174102" cy="174102"/>
          </a:xfrm>
          <a:prstGeom prst="rect">
            <a:avLst/>
          </a:prstGeom>
        </p:spPr>
      </p:pic>
      <p:sp>
        <p:nvSpPr>
          <p:cNvPr id="127" name="Text 116"/>
          <p:cNvSpPr txBox="1"/>
          <p:nvPr/>
        </p:nvSpPr>
        <p:spPr>
          <a:xfrm>
            <a:off x="9418320" y="314553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</a:t>
            </a:r>
            <a:endParaRPr lang="en-US" sz="750" dirty="0"/>
          </a:p>
        </p:txBody>
      </p:sp>
      <p:sp>
        <p:nvSpPr>
          <p:cNvPr id="128" name="Text 117"/>
          <p:cNvSpPr txBox="1"/>
          <p:nvPr/>
        </p:nvSpPr>
        <p:spPr>
          <a:xfrm>
            <a:off x="9070848" y="351129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safe, vendor-correct fixes</a:t>
            </a:r>
            <a:endParaRPr lang="en-US" sz="750" dirty="0"/>
          </a:p>
        </p:txBody>
      </p:sp>
      <p:sp>
        <p:nvSpPr>
          <p:cNvPr id="129" name="Shape 118"/>
          <p:cNvSpPr/>
          <p:nvPr/>
        </p:nvSpPr>
        <p:spPr>
          <a:xfrm>
            <a:off x="10415016" y="3108960"/>
            <a:ext cx="13258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1E8A4C"/>
            </a:solidFill>
            <a:prstDash val="solid"/>
          </a:ln>
        </p:spPr>
      </p:sp>
      <p:sp>
        <p:nvSpPr>
          <p:cNvPr id="130" name="Shape 119"/>
          <p:cNvSpPr/>
          <p:nvPr/>
        </p:nvSpPr>
        <p:spPr>
          <a:xfrm>
            <a:off x="10469880" y="3163824"/>
            <a:ext cx="310896" cy="310896"/>
          </a:xfrm>
          <a:prstGeom prst="ellipse">
            <a:avLst/>
          </a:prstGeom>
          <a:solidFill>
            <a:srgbClr val="1E8A4C"/>
          </a:solidFill>
          <a:ln/>
        </p:spPr>
      </p:sp>
      <p:pic>
        <p:nvPicPr>
          <p:cNvPr id="1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8277" y="3232221"/>
            <a:ext cx="174102" cy="174102"/>
          </a:xfrm>
          <a:prstGeom prst="rect">
            <a:avLst/>
          </a:prstGeom>
        </p:spPr>
      </p:pic>
      <p:sp>
        <p:nvSpPr>
          <p:cNvPr id="132" name="Text 120"/>
          <p:cNvSpPr txBox="1"/>
          <p:nvPr/>
        </p:nvSpPr>
        <p:spPr>
          <a:xfrm>
            <a:off x="10817352" y="314553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institution</a:t>
            </a:r>
            <a:endParaRPr lang="en-US" sz="750" dirty="0"/>
          </a:p>
        </p:txBody>
      </p:sp>
      <p:sp>
        <p:nvSpPr>
          <p:cNvPr id="133" name="Text 121"/>
          <p:cNvSpPr txBox="1"/>
          <p:nvPr/>
        </p:nvSpPr>
        <p:spPr>
          <a:xfrm>
            <a:off x="10469880" y="351129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SIEM / regulator</a:t>
            </a:r>
            <a:endParaRPr lang="en-US" sz="750" dirty="0"/>
          </a:p>
        </p:txBody>
      </p:sp>
      <p:sp>
        <p:nvSpPr>
          <p:cNvPr id="134" name="Text 122"/>
          <p:cNvSpPr txBox="1"/>
          <p:nvPr/>
        </p:nvSpPr>
        <p:spPr>
          <a:xfrm>
            <a:off x="6217920" y="40507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— SUPPORTING FACTS</a:t>
            </a:r>
            <a:endParaRPr lang="en-US" sz="950" dirty="0"/>
          </a:p>
        </p:txBody>
      </p:sp>
      <p:graphicFrame>
        <p:nvGraphicFramePr>
          <p:cNvPr id="135" name="Chart 0"/>
          <p:cNvGraphicFramePr/>
          <p:nvPr/>
        </p:nvGraphicFramePr>
        <p:xfrm>
          <a:off x="6217920" y="4297680"/>
          <a:ext cx="26517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36" name="Shape 123"/>
          <p:cNvSpPr/>
          <p:nvPr/>
        </p:nvSpPr>
        <p:spPr>
          <a:xfrm>
            <a:off x="8961120" y="4315968"/>
            <a:ext cx="2816352" cy="585216"/>
          </a:xfrm>
          <a:prstGeom prst="roundRect">
            <a:avLst>
              <a:gd name="adj" fmla="val 7813"/>
            </a:avLst>
          </a:prstGeom>
          <a:solidFill>
            <a:srgbClr val="F2F5FA"/>
          </a:solidFill>
          <a:ln/>
        </p:spPr>
      </p:sp>
      <p:sp>
        <p:nvSpPr>
          <p:cNvPr id="137" name="Shape 124"/>
          <p:cNvSpPr/>
          <p:nvPr/>
        </p:nvSpPr>
        <p:spPr>
          <a:xfrm>
            <a:off x="9015984" y="4425696"/>
            <a:ext cx="365760" cy="365760"/>
          </a:xfrm>
          <a:prstGeom prst="ellipse">
            <a:avLst/>
          </a:prstGeom>
          <a:solidFill>
            <a:srgbClr val="1E8A4C"/>
          </a:solidFill>
          <a:ln/>
        </p:spPr>
      </p:sp>
      <p:pic>
        <p:nvPicPr>
          <p:cNvPr id="138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6451" y="4506163"/>
            <a:ext cx="204826" cy="204826"/>
          </a:xfrm>
          <a:prstGeom prst="rect">
            <a:avLst/>
          </a:prstGeom>
        </p:spPr>
      </p:pic>
      <p:sp>
        <p:nvSpPr>
          <p:cNvPr id="139" name="Text 125"/>
          <p:cNvSpPr txBox="1"/>
          <p:nvPr/>
        </p:nvSpPr>
        <p:spPr>
          <a:xfrm>
            <a:off x="9436608" y="4315968"/>
            <a:ext cx="2304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audit is the baseline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audit guidelines, Jul 2025</a:t>
            </a:r>
            <a:endParaRPr lang="en-US" sz="750" dirty="0"/>
          </a:p>
        </p:txBody>
      </p:sp>
      <p:sp>
        <p:nvSpPr>
          <p:cNvPr id="140" name="Shape 126"/>
          <p:cNvSpPr/>
          <p:nvPr/>
        </p:nvSpPr>
        <p:spPr>
          <a:xfrm>
            <a:off x="8961120" y="4974336"/>
            <a:ext cx="2816352" cy="585216"/>
          </a:xfrm>
          <a:prstGeom prst="roundRect">
            <a:avLst>
              <a:gd name="adj" fmla="val 7813"/>
            </a:avLst>
          </a:prstGeom>
          <a:solidFill>
            <a:srgbClr val="F2F5FA"/>
          </a:solidFill>
          <a:ln/>
        </p:spPr>
      </p:sp>
      <p:sp>
        <p:nvSpPr>
          <p:cNvPr id="141" name="Shape 127"/>
          <p:cNvSpPr/>
          <p:nvPr/>
        </p:nvSpPr>
        <p:spPr>
          <a:xfrm>
            <a:off x="9015984" y="5084064"/>
            <a:ext cx="365760" cy="365760"/>
          </a:xfrm>
          <a:prstGeom prst="ellipse">
            <a:avLst/>
          </a:prstGeom>
          <a:solidFill>
            <a:srgbClr val="6C3FA0"/>
          </a:solidFill>
          <a:ln/>
        </p:spPr>
      </p:sp>
      <p:pic>
        <p:nvPicPr>
          <p:cNvPr id="142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96451" y="5164531"/>
            <a:ext cx="204826" cy="204826"/>
          </a:xfrm>
          <a:prstGeom prst="rect">
            <a:avLst/>
          </a:prstGeom>
        </p:spPr>
      </p:pic>
      <p:sp>
        <p:nvSpPr>
          <p:cNvPr id="143" name="Text 128"/>
          <p:cNvSpPr txBox="1"/>
          <p:nvPr/>
        </p:nvSpPr>
        <p:spPr>
          <a:xfrm>
            <a:off x="9436608" y="4974336"/>
            <a:ext cx="2304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empanelled audit orgs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adoption channel (CERT-In, 2025)</a:t>
            </a:r>
            <a:endParaRPr lang="en-US" sz="750" dirty="0"/>
          </a:p>
        </p:txBody>
      </p:sp>
      <p:sp>
        <p:nvSpPr>
          <p:cNvPr id="144" name="Shape 129"/>
          <p:cNvSpPr/>
          <p:nvPr/>
        </p:nvSpPr>
        <p:spPr>
          <a:xfrm>
            <a:off x="8961120" y="5632704"/>
            <a:ext cx="2816352" cy="585216"/>
          </a:xfrm>
          <a:prstGeom prst="roundRect">
            <a:avLst>
              <a:gd name="adj" fmla="val 7813"/>
            </a:avLst>
          </a:prstGeom>
          <a:solidFill>
            <a:srgbClr val="F2F5FA"/>
          </a:solidFill>
          <a:ln/>
        </p:spPr>
      </p:sp>
      <p:sp>
        <p:nvSpPr>
          <p:cNvPr id="145" name="Shape 130"/>
          <p:cNvSpPr/>
          <p:nvPr/>
        </p:nvSpPr>
        <p:spPr>
          <a:xfrm>
            <a:off x="9015984" y="5742432"/>
            <a:ext cx="365760" cy="365760"/>
          </a:xfrm>
          <a:prstGeom prst="ellipse">
            <a:avLst/>
          </a:prstGeom>
          <a:solidFill>
            <a:srgbClr val="D2601A"/>
          </a:solidFill>
          <a:ln/>
        </p:spPr>
      </p:sp>
      <p:pic>
        <p:nvPicPr>
          <p:cNvPr id="146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6451" y="5822899"/>
            <a:ext cx="204826" cy="204826"/>
          </a:xfrm>
          <a:prstGeom prst="rect">
            <a:avLst/>
          </a:prstGeom>
        </p:spPr>
      </p:pic>
      <p:sp>
        <p:nvSpPr>
          <p:cNvPr id="147" name="Text 131"/>
          <p:cNvSpPr txBox="1"/>
          <p:nvPr/>
        </p:nvSpPr>
        <p:spPr>
          <a:xfrm>
            <a:off x="9436608" y="5632704"/>
            <a:ext cx="2304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device = compute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no per-device licence, 8 GB GPU / CPU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28016"/>
            <a:ext cx="118872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28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No_Talks_IC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IMPACT &amp; BENEFITS</a:t>
            </a:r>
            <a:endParaRPr lang="en-US" sz="1000" dirty="0"/>
          </a:p>
        </p:txBody>
      </p:sp>
      <p:pic>
        <p:nvPicPr>
          <p:cNvPr id="6" name="Image 0" descr="sih_log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1440"/>
            <a:ext cx="1572768" cy="7434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6FC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70248" y="6400800"/>
            <a:ext cx="3657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400800"/>
            <a:ext cx="914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6400800"/>
            <a:ext cx="3200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26155 · NetAudit Engine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11480" y="89611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TARGET AUDIENCE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1480" y="117043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F3456"/>
            </a:solidFill>
            <a:prstDash val="solid"/>
          </a:ln>
          <a:effectLst>
            <a:outerShdw blurRad="50800" dist="1905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" y="1243584"/>
            <a:ext cx="365760" cy="365760"/>
          </a:xfrm>
          <a:prstGeom prst="ellipse">
            <a:avLst/>
          </a:prstGeom>
          <a:solidFill>
            <a:srgbClr val="1F345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" y="1324051"/>
            <a:ext cx="204826" cy="20482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12252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/ defence network ops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164592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estate audited from offline files — no agent, no probe, no credentials handed over.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246120" y="117043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  <a:effectLst>
            <a:outerShdw blurRad="50800" dist="1905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319272" y="1243584"/>
            <a:ext cx="365760" cy="365760"/>
          </a:xfrm>
          <a:prstGeom prst="ellipse">
            <a:avLst/>
          </a:prstGeom>
          <a:solidFill>
            <a:srgbClr val="6C3FA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9739" y="1324051"/>
            <a:ext cx="204826" cy="20482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49040" y="12252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auditor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3337560" y="164592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its own proof: control, failing line, config hash — re-runnable by anyone.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11480" y="226771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2601A"/>
            </a:solidFill>
            <a:prstDash val="solid"/>
          </a:ln>
          <a:effectLst>
            <a:outerShdw blurRad="50800" dist="1905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4632" y="2340864"/>
            <a:ext cx="365760" cy="365760"/>
          </a:xfrm>
          <a:prstGeom prst="ellipse">
            <a:avLst/>
          </a:prstGeom>
          <a:solidFill>
            <a:srgbClr val="D2601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" y="2421331"/>
            <a:ext cx="204826" cy="20482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4400" y="23225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502920" y="274320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vendor-correct CLI fixes; unsafe ones withheld before the outage, not after.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3246120" y="2267712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E8A4C"/>
            </a:solidFill>
            <a:prstDash val="solid"/>
          </a:ln>
          <a:effectLst>
            <a:outerShdw blurRad="50800" dist="1905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19272" y="2340864"/>
            <a:ext cx="365760" cy="365760"/>
          </a:xfrm>
          <a:prstGeom prst="ellipse">
            <a:avLst/>
          </a:prstGeom>
          <a:solidFill>
            <a:srgbClr val="1E8A4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739" y="2421331"/>
            <a:ext cx="204826" cy="20482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23225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regulator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337560" y="274320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becomes a reproducible artefact, not a consultant's spreadsheet.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8961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OUTCOMES OF OUR SOLUTION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0" y="1170432"/>
            <a:ext cx="5559552" cy="374904"/>
          </a:xfrm>
          <a:prstGeom prst="roundRect">
            <a:avLst>
              <a:gd name="adj" fmla="val 12195"/>
            </a:avLst>
          </a:prstGeom>
          <a:solidFill>
            <a:srgbClr val="E6F0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281928" y="1216152"/>
            <a:ext cx="283464" cy="28346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6281928" y="121615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6675120" y="1170432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findings  </a:t>
            </a: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config + same bundle, any auditor, any day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217920" y="1600200"/>
            <a:ext cx="5559552" cy="374904"/>
          </a:xfrm>
          <a:prstGeom prst="roundRect">
            <a:avLst>
              <a:gd name="adj" fmla="val 12195"/>
            </a:avLst>
          </a:prstGeom>
          <a:solidFill>
            <a:srgbClr val="F2F5FA"/>
          </a:solidFill>
          <a:ln/>
        </p:spPr>
      </p:sp>
      <p:sp>
        <p:nvSpPr>
          <p:cNvPr id="39" name="Shape 31"/>
          <p:cNvSpPr/>
          <p:nvPr/>
        </p:nvSpPr>
        <p:spPr>
          <a:xfrm>
            <a:off x="6281928" y="1645920"/>
            <a:ext cx="283464" cy="28346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6281928" y="164592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6675120" y="1600200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opinion  </a:t>
            </a: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line attached, secrets masked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217920" y="2029968"/>
            <a:ext cx="5559552" cy="374904"/>
          </a:xfrm>
          <a:prstGeom prst="roundRect">
            <a:avLst>
              <a:gd name="adj" fmla="val 12195"/>
            </a:avLst>
          </a:prstGeom>
          <a:solidFill>
            <a:srgbClr val="E6F0FA"/>
          </a:solidFill>
          <a:ln/>
        </p:spPr>
      </p:sp>
      <p:sp>
        <p:nvSpPr>
          <p:cNvPr id="43" name="Shape 35"/>
          <p:cNvSpPr/>
          <p:nvPr/>
        </p:nvSpPr>
        <p:spPr>
          <a:xfrm>
            <a:off x="6281928" y="2075688"/>
            <a:ext cx="283464" cy="28346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6281928" y="20756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675120" y="2029968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don't just flag  </a:t>
            </a: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fixes refused in code (HTTP 409)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217920" y="2459736"/>
            <a:ext cx="5559552" cy="374904"/>
          </a:xfrm>
          <a:prstGeom prst="roundRect">
            <a:avLst>
              <a:gd name="adj" fmla="val 12195"/>
            </a:avLst>
          </a:prstGeom>
          <a:solidFill>
            <a:srgbClr val="F2F5FA"/>
          </a:solidFill>
          <a:ln/>
        </p:spPr>
      </p:sp>
      <p:sp>
        <p:nvSpPr>
          <p:cNvPr id="47" name="Shape 39"/>
          <p:cNvSpPr/>
          <p:nvPr/>
        </p:nvSpPr>
        <p:spPr>
          <a:xfrm>
            <a:off x="6281928" y="2505456"/>
            <a:ext cx="283464" cy="28346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6281928" y="250545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6675120" y="2459736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by construction  </a:t>
            </a: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premises; open weights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6217920" y="2889504"/>
            <a:ext cx="5559552" cy="374904"/>
          </a:xfrm>
          <a:prstGeom prst="roundRect">
            <a:avLst>
              <a:gd name="adj" fmla="val 12195"/>
            </a:avLst>
          </a:prstGeom>
          <a:solidFill>
            <a:srgbClr val="E6F0FA"/>
          </a:solidFill>
          <a:ln/>
        </p:spPr>
      </p:sp>
      <p:sp>
        <p:nvSpPr>
          <p:cNvPr id="51" name="Shape 43"/>
          <p:cNvSpPr/>
          <p:nvPr/>
        </p:nvSpPr>
        <p:spPr>
          <a:xfrm>
            <a:off x="6281928" y="2935224"/>
            <a:ext cx="283464" cy="28346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6281928" y="293522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6675120" y="2889504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vendor = one mapping  </a:t>
            </a: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retrain, no redeploy, human-signed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411480" y="34381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03320"/>
          <a:ext cx="763524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TODAY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TOOLS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NETAUDIT ENGINE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reproducibility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Auditor-dependent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inspectable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Rego: same input → same finding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Screenshots, 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Report-level summary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line per finding, secrets masked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sovereignty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on-prem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closed binary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Air-gapped, open-source, inspectable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Vendor-correct CLI + pre-flight gate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more device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Per-device licence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vendor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expertise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release cycle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human mapping session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Tool-specific export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5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Append-only, hash-linked ledger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6" name="Shape 47"/>
          <p:cNvSpPr/>
          <p:nvPr/>
        </p:nvSpPr>
        <p:spPr>
          <a:xfrm>
            <a:off x="8229600" y="3438144"/>
            <a:ext cx="3547872" cy="2834640"/>
          </a:xfrm>
          <a:prstGeom prst="roundRect">
            <a:avLst>
              <a:gd name="adj" fmla="val 1935"/>
            </a:avLst>
          </a:prstGeom>
          <a:solidFill>
            <a:srgbClr val="F4F7FB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8339328" y="34747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ALUMNI ENGAGEMENTS  </a:t>
            </a: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58" name="Shape 49"/>
          <p:cNvSpPr/>
          <p:nvPr/>
        </p:nvSpPr>
        <p:spPr>
          <a:xfrm>
            <a:off x="8339328" y="3794760"/>
            <a:ext cx="3328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8412480" y="3867912"/>
            <a:ext cx="356616" cy="356616"/>
          </a:xfrm>
          <a:prstGeom prst="ellipse">
            <a:avLst/>
          </a:prstGeom>
          <a:solidFill>
            <a:srgbClr val="E0A21B"/>
          </a:solidFill>
          <a:ln/>
        </p:spPr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936" y="3946368"/>
            <a:ext cx="199705" cy="199705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8842248" y="379476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alumni in SOC / network-security roles [ADD NAMES]</a:t>
            </a:r>
            <a:endParaRPr lang="en-US" sz="800" dirty="0"/>
          </a:p>
        </p:txBody>
      </p:sp>
      <p:sp>
        <p:nvSpPr>
          <p:cNvPr id="62" name="Text 52"/>
          <p:cNvSpPr txBox="1"/>
          <p:nvPr/>
        </p:nvSpPr>
        <p:spPr>
          <a:xfrm>
            <a:off x="8476488" y="4279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63" name="Shape 53"/>
          <p:cNvSpPr/>
          <p:nvPr/>
        </p:nvSpPr>
        <p:spPr>
          <a:xfrm>
            <a:off x="8339328" y="4407408"/>
            <a:ext cx="3328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8412480" y="4480560"/>
            <a:ext cx="356616" cy="356616"/>
          </a:xfrm>
          <a:prstGeom prst="ellipse">
            <a:avLst/>
          </a:prstGeom>
          <a:solidFill>
            <a:srgbClr val="E0A21B"/>
          </a:solidFill>
          <a:ln/>
        </p:spPr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0936" y="4559016"/>
            <a:ext cx="199705" cy="199705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8842248" y="4407408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labelled CIS / STIG ground truth</a:t>
            </a:r>
            <a:endParaRPr lang="en-US" sz="800" dirty="0"/>
          </a:p>
        </p:txBody>
      </p:sp>
      <p:sp>
        <p:nvSpPr>
          <p:cNvPr id="67" name="Text 56"/>
          <p:cNvSpPr txBox="1"/>
          <p:nvPr/>
        </p:nvSpPr>
        <p:spPr>
          <a:xfrm>
            <a:off x="8476488" y="48920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68" name="Shape 57"/>
          <p:cNvSpPr/>
          <p:nvPr/>
        </p:nvSpPr>
        <p:spPr>
          <a:xfrm>
            <a:off x="8339328" y="5020056"/>
            <a:ext cx="3328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8412480" y="5093208"/>
            <a:ext cx="356616" cy="356616"/>
          </a:xfrm>
          <a:prstGeom prst="ellipse">
            <a:avLst/>
          </a:prstGeom>
          <a:solidFill>
            <a:srgbClr val="E0A21B"/>
          </a:solidFill>
          <a:ln/>
        </p:spPr>
      </p:sp>
      <p:pic>
        <p:nvPicPr>
          <p:cNvPr id="7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0936" y="5171664"/>
            <a:ext cx="199705" cy="199705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8842248" y="5020056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sanitised lab / campus configs</a:t>
            </a:r>
            <a:endParaRPr lang="en-US" sz="800" dirty="0"/>
          </a:p>
        </p:txBody>
      </p:sp>
      <p:sp>
        <p:nvSpPr>
          <p:cNvPr id="72" name="Text 60"/>
          <p:cNvSpPr txBox="1"/>
          <p:nvPr/>
        </p:nvSpPr>
        <p:spPr>
          <a:xfrm>
            <a:off x="8476488" y="55046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73" name="Shape 61"/>
          <p:cNvSpPr/>
          <p:nvPr/>
        </p:nvSpPr>
        <p:spPr>
          <a:xfrm>
            <a:off x="8339328" y="5632704"/>
            <a:ext cx="3328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74" name="Shape 62"/>
          <p:cNvSpPr/>
          <p:nvPr/>
        </p:nvSpPr>
        <p:spPr>
          <a:xfrm>
            <a:off x="8412480" y="5705856"/>
            <a:ext cx="356616" cy="356616"/>
          </a:xfrm>
          <a:prstGeom prst="ellipse">
            <a:avLst/>
          </a:prstGeom>
          <a:solidFill>
            <a:srgbClr val="E0A21B"/>
          </a:solidFill>
          <a:ln/>
        </p:spPr>
      </p:sp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936" y="5784312"/>
            <a:ext cx="199705" cy="199705"/>
          </a:xfrm>
          <a:prstGeom prst="rect">
            <a:avLst/>
          </a:prstGeom>
        </p:spPr>
      </p:pic>
      <p:sp>
        <p:nvSpPr>
          <p:cNvPr id="76" name="Text 63"/>
          <p:cNvSpPr txBox="1"/>
          <p:nvPr/>
        </p:nvSpPr>
        <p:spPr>
          <a:xfrm>
            <a:off x="8842248" y="5632704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into Rego bundles + mapping GUI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28016"/>
            <a:ext cx="118872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C3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128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No_Talks_IC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7315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585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&amp; REFERENCES</a:t>
            </a:r>
            <a:endParaRPr lang="en-US" sz="1000" dirty="0"/>
          </a:p>
        </p:txBody>
      </p:sp>
      <p:pic>
        <p:nvPicPr>
          <p:cNvPr id="6" name="Image 0" descr="sih_logo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1440"/>
            <a:ext cx="1572768" cy="7434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6FC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70248" y="6400800"/>
            <a:ext cx="3657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400800"/>
            <a:ext cx="914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6400800"/>
            <a:ext cx="32004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26155 · NetAudit Engine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11480" y="8961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FLOW — how we arrived at the design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22960" y="1371600"/>
            <a:ext cx="10515600" cy="914"/>
          </a:xfrm>
          <a:prstGeom prst="line">
            <a:avLst/>
          </a:prstGeom>
          <a:noFill/>
          <a:ln w="38100">
            <a:solidFill>
              <a:srgbClr val="B8C6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1207008"/>
            <a:ext cx="329184" cy="329184"/>
          </a:xfrm>
          <a:prstGeom prst="ellipse">
            <a:avLst/>
          </a:prstGeom>
          <a:solidFill>
            <a:srgbClr val="6C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069848" y="1261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C3FA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69848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NEEDS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26155: multi-vendor, air-gapped, evidence per finding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926080" y="1207008"/>
            <a:ext cx="329184" cy="329184"/>
          </a:xfrm>
          <a:prstGeom prst="ellipse">
            <a:avLst/>
          </a:prstGeom>
          <a:solidFill>
            <a:srgbClr val="6C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926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355848" y="1261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C3FA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355848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1–6</a:t>
            </a:r>
            <a:endParaRPr lang="en-US" sz="700" dirty="0"/>
          </a:p>
        </p:txBody>
      </p:sp>
      <p:sp>
        <p:nvSpPr>
          <p:cNvPr id="23" name="Text 19"/>
          <p:cNvSpPr txBox="1"/>
          <p:nvPr/>
        </p:nvSpPr>
        <p:spPr>
          <a:xfrm>
            <a:off x="278892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verification · LLMs for configs · constrained decoding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212080" y="1207008"/>
            <a:ext cx="329184" cy="329184"/>
          </a:xfrm>
          <a:prstGeom prst="ellipse">
            <a:avLst/>
          </a:prstGeom>
          <a:solidFill>
            <a:srgbClr val="6C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12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641848" y="1261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C3FA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641848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TOOLS SURVEYED</a:t>
            </a:r>
            <a:endParaRPr lang="en-US" sz="700" dirty="0"/>
          </a:p>
        </p:txBody>
      </p:sp>
      <p:sp>
        <p:nvSpPr>
          <p:cNvPr id="28" name="Text 24"/>
          <p:cNvSpPr txBox="1"/>
          <p:nvPr/>
        </p:nvSpPr>
        <p:spPr>
          <a:xfrm>
            <a:off x="507492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auditors, CIS-CAT, Batfish alone — none do all three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498080" y="1207008"/>
            <a:ext cx="329184" cy="329184"/>
          </a:xfrm>
          <a:prstGeom prst="ellipse">
            <a:avLst/>
          </a:prstGeom>
          <a:solidFill>
            <a:srgbClr val="6C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498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7927848" y="1261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C3FA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927848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3–4</a:t>
            </a:r>
            <a:endParaRPr lang="en-US" sz="700" dirty="0"/>
          </a:p>
        </p:txBody>
      </p:sp>
      <p:sp>
        <p:nvSpPr>
          <p:cNvPr id="33" name="Text 29"/>
          <p:cNvSpPr txBox="1"/>
          <p:nvPr/>
        </p:nvSpPr>
        <p:spPr>
          <a:xfrm>
            <a:off x="736092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hypothesis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parses; a policy engine decides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9784080" y="1207008"/>
            <a:ext cx="329184" cy="329184"/>
          </a:xfrm>
          <a:prstGeom prst="ellipse">
            <a:avLst/>
          </a:prstGeom>
          <a:solidFill>
            <a:srgbClr val="6C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784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10213848" y="12618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C3FA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0213848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5</a:t>
            </a:r>
            <a:endParaRPr lang="en-US" sz="700" dirty="0"/>
          </a:p>
        </p:txBody>
      </p:sp>
      <p:sp>
        <p:nvSpPr>
          <p:cNvPr id="38" name="Text 34"/>
          <p:cNvSpPr txBox="1"/>
          <p:nvPr/>
        </p:nvSpPr>
        <p:spPr>
          <a:xfrm>
            <a:off x="964692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CIS / STIG / NIST corpus: accuracy, coverage, latency</a:t>
            </a:r>
            <a:endParaRPr lang="en-US" sz="950" dirty="0"/>
          </a:p>
        </p:txBody>
      </p:sp>
      <p:sp>
        <p:nvSpPr>
          <p:cNvPr id="39" name="Text 35"/>
          <p:cNvSpPr txBox="1"/>
          <p:nvPr/>
        </p:nvSpPr>
        <p:spPr>
          <a:xfrm>
            <a:off x="411480" y="2194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11480" y="2450592"/>
            <a:ext cx="3703320" cy="950976"/>
          </a:xfrm>
          <a:prstGeom prst="roundRect">
            <a:avLst>
              <a:gd name="adj" fmla="val 4808"/>
            </a:avLst>
          </a:prstGeom>
          <a:solidFill>
            <a:srgbClr val="F2F5FA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" y="2523744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475488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841248" y="248716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Approach to Network Configuration Analysis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502920" y="288950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Fogel, Fung, Pedrosa, Walraed-Sullivan, Govindan, Mahajan, Millstein · USENIX NSDI 2015</a:t>
            </a:r>
            <a:endParaRPr lang="en-US" sz="700" dirty="0"/>
          </a:p>
        </p:txBody>
      </p:sp>
      <p:sp>
        <p:nvSpPr>
          <p:cNvPr id="45" name="Text 41"/>
          <p:cNvSpPr txBox="1"/>
          <p:nvPr/>
        </p:nvSpPr>
        <p:spPr>
          <a:xfrm>
            <a:off x="502920" y="314553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configuration simulation (Batfish)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4242816" y="2450592"/>
            <a:ext cx="3703320" cy="950976"/>
          </a:xfrm>
          <a:prstGeom prst="roundRect">
            <a:avLst>
              <a:gd name="adj" fmla="val 4808"/>
            </a:avLst>
          </a:prstGeom>
          <a:solidFill>
            <a:srgbClr val="F2F5FA"/>
          </a:solidFill>
          <a:ln/>
        </p:spPr>
      </p:sp>
      <p:sp>
        <p:nvSpPr>
          <p:cNvPr id="47" name="Shape 43"/>
          <p:cNvSpPr/>
          <p:nvPr/>
        </p:nvSpPr>
        <p:spPr>
          <a:xfrm>
            <a:off x="4306824" y="2523744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4306824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4672584" y="248716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the Evolution of the Batfish Configuration Analysis Tool</a:t>
            </a:r>
            <a:endParaRPr lang="en-US" sz="850" dirty="0"/>
          </a:p>
        </p:txBody>
      </p:sp>
      <p:sp>
        <p:nvSpPr>
          <p:cNvPr id="50" name="Text 46"/>
          <p:cNvSpPr txBox="1"/>
          <p:nvPr/>
        </p:nvSpPr>
        <p:spPr>
          <a:xfrm>
            <a:off x="4334256" y="288950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Fogel, et al. · ACM SIGCOMM 2023</a:t>
            </a:r>
            <a:endParaRPr lang="en-US" sz="700" dirty="0"/>
          </a:p>
        </p:txBody>
      </p:sp>
      <p:sp>
        <p:nvSpPr>
          <p:cNvPr id="51" name="Text 47"/>
          <p:cNvSpPr txBox="1"/>
          <p:nvPr/>
        </p:nvSpPr>
        <p:spPr>
          <a:xfrm>
            <a:off x="4334256" y="314553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configuration modelling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8074152" y="2450592"/>
            <a:ext cx="3703320" cy="950976"/>
          </a:xfrm>
          <a:prstGeom prst="roundRect">
            <a:avLst>
              <a:gd name="adj" fmla="val 4808"/>
            </a:avLst>
          </a:prstGeom>
          <a:solidFill>
            <a:srgbClr val="F2F5FA"/>
          </a:solidFill>
          <a:ln/>
        </p:spPr>
      </p:sp>
      <p:sp>
        <p:nvSpPr>
          <p:cNvPr id="53" name="Shape 49"/>
          <p:cNvSpPr/>
          <p:nvPr/>
        </p:nvSpPr>
        <p:spPr>
          <a:xfrm>
            <a:off x="8138160" y="2523744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813816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8503920" y="248716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Guided Generation for Large Language Models</a:t>
            </a:r>
            <a:endParaRPr lang="en-US" sz="850" dirty="0"/>
          </a:p>
        </p:txBody>
      </p:sp>
      <p:sp>
        <p:nvSpPr>
          <p:cNvPr id="56" name="Text 52"/>
          <p:cNvSpPr txBox="1"/>
          <p:nvPr/>
        </p:nvSpPr>
        <p:spPr>
          <a:xfrm>
            <a:off x="8165592" y="288950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Willard &amp; Louf · arXiv:2307.09702, 2023</a:t>
            </a:r>
            <a:endParaRPr lang="en-US" sz="700" dirty="0"/>
          </a:p>
        </p:txBody>
      </p:sp>
      <p:sp>
        <p:nvSpPr>
          <p:cNvPr id="57" name="Text 53"/>
          <p:cNvSpPr txBox="1"/>
          <p:nvPr/>
        </p:nvSpPr>
        <p:spPr>
          <a:xfrm>
            <a:off x="8165592" y="314553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decoding (Outlines)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1480" y="3474720"/>
            <a:ext cx="3703320" cy="950976"/>
          </a:xfrm>
          <a:prstGeom prst="roundRect">
            <a:avLst>
              <a:gd name="adj" fmla="val 4808"/>
            </a:avLst>
          </a:prstGeom>
          <a:solidFill>
            <a:srgbClr val="F2F5FA"/>
          </a:solidFill>
          <a:ln/>
        </p:spPr>
      </p:sp>
      <p:sp>
        <p:nvSpPr>
          <p:cNvPr id="59" name="Shape 55"/>
          <p:cNvSpPr/>
          <p:nvPr/>
        </p:nvSpPr>
        <p:spPr>
          <a:xfrm>
            <a:off x="475488" y="3547872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475488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841248" y="351129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LLMs need to Synthesize Correct Router Configurations?</a:t>
            </a:r>
            <a:endParaRPr lang="en-US" sz="850" dirty="0"/>
          </a:p>
        </p:txBody>
      </p:sp>
      <p:sp>
        <p:nvSpPr>
          <p:cNvPr id="62" name="Text 58"/>
          <p:cNvSpPr txBox="1"/>
          <p:nvPr/>
        </p:nvSpPr>
        <p:spPr>
          <a:xfrm>
            <a:off x="502920" y="391363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Mondal, Tang, Beckett, Millstein, Varghese · ACM HotNets 2023</a:t>
            </a:r>
            <a:endParaRPr lang="en-US" sz="700" dirty="0"/>
          </a:p>
        </p:txBody>
      </p:sp>
      <p:sp>
        <p:nvSpPr>
          <p:cNvPr id="63" name="Text 59"/>
          <p:cNvSpPr txBox="1"/>
          <p:nvPr/>
        </p:nvSpPr>
        <p:spPr>
          <a:xfrm>
            <a:off x="502920" y="416966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verifier, not the model, decides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242816" y="3474720"/>
            <a:ext cx="3703320" cy="950976"/>
          </a:xfrm>
          <a:prstGeom prst="roundRect">
            <a:avLst>
              <a:gd name="adj" fmla="val 4808"/>
            </a:avLst>
          </a:prstGeom>
          <a:solidFill>
            <a:srgbClr val="F2F5FA"/>
          </a:solidFill>
          <a:ln/>
        </p:spPr>
      </p:sp>
      <p:sp>
        <p:nvSpPr>
          <p:cNvPr id="65" name="Shape 61"/>
          <p:cNvSpPr/>
          <p:nvPr/>
        </p:nvSpPr>
        <p:spPr>
          <a:xfrm>
            <a:off x="4306824" y="3547872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4306824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4672584" y="351129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NetConfEval: Can LLMs Facilitate Network Configuration?</a:t>
            </a:r>
            <a:endParaRPr lang="en-US" sz="850" dirty="0"/>
          </a:p>
        </p:txBody>
      </p:sp>
      <p:sp>
        <p:nvSpPr>
          <p:cNvPr id="68" name="Text 64"/>
          <p:cNvSpPr txBox="1"/>
          <p:nvPr/>
        </p:nvSpPr>
        <p:spPr>
          <a:xfrm>
            <a:off x="4334256" y="391363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Scazzariello, Farshin, Ferlin, Kostić, Chiesa · CoNEXT 2024</a:t>
            </a:r>
            <a:endParaRPr lang="en-US" sz="700" dirty="0"/>
          </a:p>
        </p:txBody>
      </p:sp>
      <p:sp>
        <p:nvSpPr>
          <p:cNvPr id="69" name="Text 65"/>
          <p:cNvSpPr txBox="1"/>
          <p:nvPr/>
        </p:nvSpPr>
        <p:spPr>
          <a:xfrm>
            <a:off x="4334256" y="416966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method for our harness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74152" y="3474720"/>
            <a:ext cx="3703320" cy="950976"/>
          </a:xfrm>
          <a:prstGeom prst="roundRect">
            <a:avLst>
              <a:gd name="adj" fmla="val 4808"/>
            </a:avLst>
          </a:prstGeom>
          <a:solidFill>
            <a:srgbClr val="F2F5FA"/>
          </a:solidFill>
          <a:ln/>
        </p:spPr>
      </p:sp>
      <p:sp>
        <p:nvSpPr>
          <p:cNvPr id="71" name="Shape 67"/>
          <p:cNvSpPr/>
          <p:nvPr/>
        </p:nvSpPr>
        <p:spPr>
          <a:xfrm>
            <a:off x="8138160" y="3547872"/>
            <a:ext cx="292608" cy="292608"/>
          </a:xfrm>
          <a:prstGeom prst="ellipse">
            <a:avLst/>
          </a:prstGeom>
          <a:solidFill>
            <a:srgbClr val="6C3FA0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813816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8503920" y="351129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 Technical Report</a:t>
            </a:r>
            <a:endParaRPr lang="en-US" sz="850" dirty="0"/>
          </a:p>
        </p:txBody>
      </p:sp>
      <p:sp>
        <p:nvSpPr>
          <p:cNvPr id="74" name="Text 70"/>
          <p:cNvSpPr txBox="1"/>
          <p:nvPr/>
        </p:nvSpPr>
        <p:spPr>
          <a:xfrm>
            <a:off x="8165592" y="391363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Hui, Yang, et al. · arXiv:2409.12186, 2024</a:t>
            </a:r>
            <a:endParaRPr lang="en-US" sz="700" dirty="0"/>
          </a:p>
        </p:txBody>
      </p:sp>
      <p:sp>
        <p:nvSpPr>
          <p:cNvPr id="75" name="Text 71"/>
          <p:cNvSpPr txBox="1"/>
          <p:nvPr/>
        </p:nvSpPr>
        <p:spPr>
          <a:xfrm>
            <a:off x="8165592" y="416966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 </a:t>
            </a:r>
            <a:r>
              <a:rPr lang="en-US" sz="750" dirty="0">
                <a:solidFill>
                  <a:srgbClr val="15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open-weights, on-prem code SLM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411480" y="4572000"/>
            <a:ext cx="2788920" cy="1700784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521208" y="468172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782312"/>
            <a:ext cx="256032" cy="256032"/>
          </a:xfrm>
          <a:prstGeom prst="rect">
            <a:avLst/>
          </a:prstGeom>
        </p:spPr>
      </p:pic>
      <p:sp>
        <p:nvSpPr>
          <p:cNvPr id="79" name="Text 74"/>
          <p:cNvSpPr txBox="1"/>
          <p:nvPr/>
        </p:nvSpPr>
        <p:spPr>
          <a:xfrm>
            <a:off x="1069848" y="4663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 VIDEO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DEMO VIDEO URL]</a:t>
            </a:r>
            <a:endParaRPr lang="en-US" sz="900" dirty="0"/>
          </a:p>
        </p:txBody>
      </p:sp>
      <p:sp>
        <p:nvSpPr>
          <p:cNvPr id="80" name="Text 75"/>
          <p:cNvSpPr txBox="1"/>
          <p:nvPr/>
        </p:nvSpPr>
        <p:spPr>
          <a:xfrm>
            <a:off x="521208" y="52578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real IOS config → CIS verdict with failing line → SAFE vs RISK_FLAGS → risky approval refused (409) → export PDF + CEF</a:t>
            </a:r>
            <a:endParaRPr lang="en-US" sz="800" dirty="0"/>
          </a:p>
        </p:txBody>
      </p:sp>
      <p:sp>
        <p:nvSpPr>
          <p:cNvPr id="81" name="Shape 76"/>
          <p:cNvSpPr/>
          <p:nvPr/>
        </p:nvSpPr>
        <p:spPr>
          <a:xfrm>
            <a:off x="3310128" y="4572000"/>
            <a:ext cx="2788920" cy="1700784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3419856" y="4681728"/>
            <a:ext cx="457200" cy="457200"/>
          </a:xfrm>
          <a:prstGeom prst="ellipse">
            <a:avLst/>
          </a:prstGeom>
          <a:solidFill>
            <a:srgbClr val="E0A21B"/>
          </a:solidFill>
          <a:ln/>
        </p:spPr>
      </p:sp>
      <p:pic>
        <p:nvPicPr>
          <p:cNvPr id="8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4782312"/>
            <a:ext cx="256032" cy="256032"/>
          </a:xfrm>
          <a:prstGeom prst="rect">
            <a:avLst/>
          </a:prstGeom>
        </p:spPr>
      </p:pic>
      <p:sp>
        <p:nvSpPr>
          <p:cNvPr id="84" name="Text 78"/>
          <p:cNvSpPr txBox="1"/>
          <p:nvPr/>
        </p:nvSpPr>
        <p:spPr>
          <a:xfrm>
            <a:off x="3968496" y="4663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github.com/[ADD REPO URL]</a:t>
            </a:r>
            <a:endParaRPr lang="en-US" sz="900" dirty="0"/>
          </a:p>
        </p:txBody>
      </p:sp>
      <p:sp>
        <p:nvSpPr>
          <p:cNvPr id="85" name="Text 79"/>
          <p:cNvSpPr txBox="1"/>
          <p:nvPr/>
        </p:nvSpPr>
        <p:spPr>
          <a:xfrm>
            <a:off x="3419856" y="52578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source + the claim-vs-implementation ledger, open to jury inspection.</a:t>
            </a:r>
            <a:endParaRPr lang="en-US" sz="800" dirty="0"/>
          </a:p>
        </p:txBody>
      </p:sp>
      <p:sp>
        <p:nvSpPr>
          <p:cNvPr id="86" name="Shape 80"/>
          <p:cNvSpPr/>
          <p:nvPr/>
        </p:nvSpPr>
        <p:spPr>
          <a:xfrm>
            <a:off x="6217920" y="4572000"/>
            <a:ext cx="5559552" cy="1700784"/>
          </a:xfrm>
          <a:prstGeom prst="roundRect">
            <a:avLst>
              <a:gd name="adj" fmla="val 3226"/>
            </a:avLst>
          </a:prstGeom>
          <a:solidFill>
            <a:srgbClr val="F2F5FA"/>
          </a:solidFill>
          <a:ln/>
        </p:spPr>
      </p:sp>
      <p:sp>
        <p:nvSpPr>
          <p:cNvPr id="87" name="Text 81"/>
          <p:cNvSpPr txBox="1"/>
          <p:nvPr/>
        </p:nvSpPr>
        <p:spPr>
          <a:xfrm>
            <a:off x="6327648" y="46085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FRAMEWORKS</a:t>
            </a:r>
            <a:endParaRPr lang="en-US" sz="850" dirty="0"/>
          </a:p>
        </p:txBody>
      </p:sp>
      <p:sp>
        <p:nvSpPr>
          <p:cNvPr id="88" name="Text 82"/>
          <p:cNvSpPr txBox="1"/>
          <p:nvPr/>
        </p:nvSpPr>
        <p:spPr>
          <a:xfrm>
            <a:off x="6327648" y="4882896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PIB — CERT-In 2025: 29.44 lakh incidents, 231 auditors</a:t>
            </a:r>
            <a:endParaRPr lang="en-US" sz="700" dirty="0"/>
          </a:p>
        </p:txBody>
      </p:sp>
      <p:sp>
        <p:nvSpPr>
          <p:cNvPr id="89" name="Text 83"/>
          <p:cNvSpPr txBox="1"/>
          <p:nvPr/>
        </p:nvSpPr>
        <p:spPr>
          <a:xfrm>
            <a:off x="9052560" y="4882896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Verizon DBIR 2025 — edge / VPN exploitation</a:t>
            </a:r>
            <a:endParaRPr lang="en-US" sz="700" dirty="0"/>
          </a:p>
        </p:txBody>
      </p:sp>
      <p:sp>
        <p:nvSpPr>
          <p:cNvPr id="90" name="Text 84"/>
          <p:cNvSpPr txBox="1"/>
          <p:nvPr/>
        </p:nvSpPr>
        <p:spPr>
          <a:xfrm>
            <a:off x="6327648" y="522122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 Cost of a Data Breach 2025 — India</a:t>
            </a:r>
            <a:endParaRPr lang="en-US" sz="700" dirty="0"/>
          </a:p>
        </p:txBody>
      </p:sp>
      <p:sp>
        <p:nvSpPr>
          <p:cNvPr id="91" name="Text 85"/>
          <p:cNvSpPr txBox="1"/>
          <p:nvPr/>
        </p:nvSpPr>
        <p:spPr>
          <a:xfrm>
            <a:off x="9052560" y="522122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NSA–CISA AA23-278A — top ten misconfigurations</a:t>
            </a:r>
            <a:endParaRPr lang="en-US" sz="700" dirty="0"/>
          </a:p>
        </p:txBody>
      </p:sp>
      <p:sp>
        <p:nvSpPr>
          <p:cNvPr id="92" name="Text 86"/>
          <p:cNvSpPr txBox="1"/>
          <p:nvPr/>
        </p:nvSpPr>
        <p:spPr>
          <a:xfrm>
            <a:off x="6327648" y="555955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Standard — CERT-In annual audit mandate</a:t>
            </a:r>
            <a:endParaRPr lang="en-US" sz="700" dirty="0"/>
          </a:p>
        </p:txBody>
      </p:sp>
      <p:sp>
        <p:nvSpPr>
          <p:cNvPr id="93" name="Text 87"/>
          <p:cNvSpPr txBox="1"/>
          <p:nvPr/>
        </p:nvSpPr>
        <p:spPr>
          <a:xfrm>
            <a:off x="9052560" y="555955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 Benchmarks — network devices</a:t>
            </a:r>
            <a:endParaRPr lang="en-US" sz="700" dirty="0"/>
          </a:p>
        </p:txBody>
      </p:sp>
      <p:sp>
        <p:nvSpPr>
          <p:cNvPr id="94" name="Text 88"/>
          <p:cNvSpPr txBox="1"/>
          <p:nvPr/>
        </p:nvSpPr>
        <p:spPr>
          <a:xfrm>
            <a:off x="6327648" y="5897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SP 800-53 Rev. 5</a:t>
            </a:r>
            <a:endParaRPr lang="en-US" sz="700" dirty="0"/>
          </a:p>
        </p:txBody>
      </p:sp>
      <p:sp>
        <p:nvSpPr>
          <p:cNvPr id="95" name="Text 89"/>
          <p:cNvSpPr txBox="1"/>
          <p:nvPr/>
        </p:nvSpPr>
        <p:spPr>
          <a:xfrm>
            <a:off x="9052560" y="5897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C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7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 STIGs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2137</Words>
  <Application>Microsoft Office PowerPoint</Application>
  <PresentationFormat>Widescreen</PresentationFormat>
  <Paragraphs>339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NetAudit Engine — SIH 2026 (PS 26155)</dc:title>
  <dc:subject>PptxGenJS Presentation</dc:subject>
  <dc:creator>Team No_Talks_IC</dc:creator>
  <cp:lastModifiedBy>Aaryan Choudhary</cp:lastModifiedBy>
  <cp:revision>21</cp:revision>
  <dcterms:created xsi:type="dcterms:W3CDTF">2026-09-24T09:23:56Z</dcterms:created>
  <dcterms:modified xsi:type="dcterms:W3CDTF">2026-09-24T10:03:48Z</dcterms:modified>
</cp:coreProperties>
</file>