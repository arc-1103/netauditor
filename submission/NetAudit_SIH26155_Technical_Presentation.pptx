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D3E1"/>
                </a:solidFill>
                <a:latin typeface="Aptos"/>
              </a:rPr>
              <a:t>THE OPERATIONAL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Mixed networks. Fragmented assurance.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65392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FB2C4"/>
                </a:solidFill>
                <a:latin typeface="Aptos"/>
              </a:rPr>
              <a:t>SIH26155 · NTRO · NetAudit Team · github.com/arc-1103/NetAuditor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CD3E1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852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AI-Driven Multi-Vendor</a:t>
            </a:r>
            <a:br/>
            <a:r>
              <a:t>Network Security Compliance Auditor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8036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9FB2C4"/>
                </a:solidFill>
                <a:latin typeface="Aptos"/>
              </a:rPr>
              <a:t>Turn raw device configuration into line-level evidence, guarded remediation and an auditable report —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371600"/>
            <a:ext cx="1920240" cy="64008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54533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D3E1"/>
                </a:solidFill>
                <a:latin typeface="Aptos"/>
              </a:rPr>
              <a:t>CISCO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5179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331720"/>
            <a:ext cx="1920240" cy="64008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50545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CDDA6"/>
                </a:solidFill>
                <a:latin typeface="Aptos"/>
              </a:rPr>
              <a:t>FORTINET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24780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291840"/>
            <a:ext cx="1920240" cy="64008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46557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6BE41"/>
                </a:solidFill>
                <a:latin typeface="Aptos"/>
              </a:rPr>
              <a:t>JUNIPER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381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251960"/>
            <a:ext cx="1920240" cy="64008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442569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47078"/>
                </a:solidFill>
                <a:latin typeface="Aptos"/>
              </a:rPr>
              <a:t>PALO ALTO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39826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2240280"/>
            <a:ext cx="1554480" cy="1554480"/>
          </a:xfrm>
          <a:prstGeom prst="roundRect">
            <a:avLst/>
          </a:prstGeom>
          <a:solidFill>
            <a:srgbClr val="113E4C"/>
          </a:solidFill>
          <a:ln>
            <a:solidFill>
              <a:srgbClr val="11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2992" y="2542032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CD3E1"/>
                </a:solidFill>
                <a:latin typeface="Aptos"/>
              </a:rPr>
              <a:t>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290779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1F7FB"/>
                </a:solidFill>
                <a:latin typeface="Aptos"/>
              </a:rPr>
              <a:t>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D3E1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One safe, explainable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65392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FB2C4"/>
                </a:solidFill>
                <a:latin typeface="Aptos"/>
              </a:rPr>
              <a:t>SIH26155 · NTRO · NetAudit Team · github.com/arc-1103/NetAuditor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CD3E1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Redact + 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7128" y="1874519"/>
            <a:ext cx="329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7752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7752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AI-assisted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874519"/>
            <a:ext cx="329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Strict 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2" y="1874519"/>
            <a:ext cx="329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OPA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2984" y="1874519"/>
            <a:ext cx="329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Human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4936" y="1874519"/>
            <a:ext cx="3291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FB2C4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1508760"/>
            <a:ext cx="1572768" cy="1143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60" y="178308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CD3E1"/>
                </a:solidFill>
                <a:latin typeface="Aptos"/>
              </a:rP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60" y="2121408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PDF/JSON/CEF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364991"/>
            <a:ext cx="109728" cy="109728"/>
          </a:xfrm>
          <a:prstGeom prst="rect">
            <a:avLst/>
          </a:prstGeom>
          <a:solidFill>
            <a:srgbClr val="2CD3E1"/>
          </a:solidFill>
          <a:ln>
            <a:solidFill>
              <a:srgbClr val="2CD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" y="3246120"/>
            <a:ext cx="4956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7FB"/>
                </a:solidFill>
                <a:latin typeface="Aptos"/>
              </a:rPr>
              <a:t>Local AI interprets syntax; it never decides compliance.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114800"/>
            <a:ext cx="109728" cy="109728"/>
          </a:xfrm>
          <a:prstGeom prst="rect">
            <a:avLst/>
          </a:prstGeom>
          <a:solidFill>
            <a:srgbClr val="2CD3E1"/>
          </a:solidFill>
          <a:ln>
            <a:solidFill>
              <a:srgbClr val="2CD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3271" y="3995928"/>
            <a:ext cx="4956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7FB"/>
                </a:solidFill>
                <a:latin typeface="Aptos"/>
              </a:rPr>
              <a:t>Low confidence becomes NEEDS_REVIEW — never PASS.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864607"/>
            <a:ext cx="109728" cy="109728"/>
          </a:xfrm>
          <a:prstGeom prst="rect">
            <a:avLst/>
          </a:prstGeom>
          <a:solidFill>
            <a:srgbClr val="2CD3E1"/>
          </a:solidFill>
          <a:ln>
            <a:solidFill>
              <a:srgbClr val="2CD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1" y="4745736"/>
            <a:ext cx="4956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7FB"/>
                </a:solidFill>
                <a:latin typeface="Aptos"/>
              </a:rPr>
              <a:t>Only SAFE proposals can reach human approval.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3246120"/>
            <a:ext cx="4800600" cy="2148840"/>
          </a:xfrm>
          <a:prstGeom prst="roundRect">
            <a:avLst/>
          </a:prstGeom>
          <a:solidFill>
            <a:srgbClr val="0B313C"/>
          </a:solidFill>
          <a:ln>
            <a:solidFill>
              <a:srgbClr val="0B31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356616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CDDA6"/>
                </a:solidFill>
                <a:latin typeface="Aptos"/>
              </a:rPr>
              <a:t>THE DECISION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069080"/>
            <a:ext cx="4160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1F7FB"/>
                </a:solidFill>
                <a:latin typeface="Aptos"/>
              </a:rPr>
              <a:t>AI extracts  →  Schema validates</a:t>
            </a:r>
            <a:br/>
            <a:r>
              <a:t>OPA decides  →  Human approves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D3E1"/>
                </a:solidFill>
                <a:latin typeface="Aptos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Evidence to safe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65392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FB2C4"/>
                </a:solidFill>
                <a:latin typeface="Aptos"/>
              </a:rPr>
              <a:t>SIH26155 · NTRO · NetAudit Team · github.com/arc-1103/NetAuditor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CD3E1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914400" cy="749808"/>
          </a:xfrm>
          <a:prstGeom prst="roundRect">
            <a:avLst/>
          </a:prstGeom>
          <a:solidFill>
            <a:srgbClr val="0D3C48"/>
          </a:solidFill>
          <a:ln>
            <a:solidFill>
              <a:srgbClr val="0D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3619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CD3E1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716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Detect + protect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922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2C4"/>
                </a:solidFill>
                <a:latin typeface="Aptos"/>
              </a:rPr>
              <a:t>Cisco IOS-XE · secrets redacted · SHA-256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23744"/>
            <a:ext cx="914400" cy="749808"/>
          </a:xfrm>
          <a:prstGeom prst="roundRect">
            <a:avLst/>
          </a:prstGeom>
          <a:solidFill>
            <a:srgbClr val="0D3C48"/>
          </a:solidFill>
          <a:ln>
            <a:solidFill>
              <a:srgbClr val="0D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70662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CD3E1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Explain the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6265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2C4"/>
                </a:solidFill>
                <a:latin typeface="Aptos"/>
              </a:rPr>
              <a:t>11 checks · exact source lines · severity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94176"/>
            <a:ext cx="914400" cy="749808"/>
          </a:xfrm>
          <a:prstGeom prst="roundRect">
            <a:avLst/>
          </a:prstGeom>
          <a:solidFill>
            <a:srgbClr val="0D3C48"/>
          </a:solidFill>
          <a:ln>
            <a:solidFill>
              <a:srgbClr val="0D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87705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CD3E1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12463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Prepare the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1330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2C4"/>
                </a:solidFill>
                <a:latin typeface="Aptos"/>
              </a:rPr>
              <a:t>Reviewed CLI template · preflight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64608"/>
            <a:ext cx="914400" cy="749808"/>
          </a:xfrm>
          <a:prstGeom prst="roundRect">
            <a:avLst/>
          </a:prstGeom>
          <a:solidFill>
            <a:srgbClr val="0D3C48"/>
          </a:solidFill>
          <a:ln>
            <a:solidFill>
              <a:srgbClr val="0D3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504748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CD3E1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828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Prove the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303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2C4"/>
                </a:solidFill>
                <a:latin typeface="Aptos"/>
              </a:rPr>
              <a:t>Human approval · PDF · JSON · CEF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371600"/>
            <a:ext cx="5120640" cy="457200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1709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D3E1"/>
                </a:solidFill>
                <a:latin typeface="Aptos"/>
              </a:rPr>
              <a:t>CIS-NET-1.1.2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10312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1F7FB"/>
                </a:solidFill>
                <a:latin typeface="Aptos"/>
              </a:rPr>
              <a:t>Telnet administrative</a:t>
            </a:r>
            <a:br/>
            <a:r>
              <a:t>access is enabled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2999232"/>
            <a:ext cx="1143000" cy="438912"/>
          </a:xfrm>
          <a:prstGeom prst="roundRect">
            <a:avLst/>
          </a:prstGeom>
          <a:solidFill>
            <a:srgbClr val="5C232B"/>
          </a:solidFill>
          <a:ln>
            <a:solidFill>
              <a:srgbClr val="5C2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3108960"/>
            <a:ext cx="896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91"/>
                </a:solidFill>
                <a:latin typeface="Aptos"/>
              </a:rPr>
              <a:t>CRITICAL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7033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line 31: transport input telnet ssh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4709160"/>
            <a:ext cx="1920240" cy="566928"/>
          </a:xfrm>
          <a:prstGeom prst="roundRect">
            <a:avLst/>
          </a:prstGeom>
          <a:solidFill>
            <a:srgbClr val="104B3D"/>
          </a:solidFill>
          <a:ln>
            <a:solidFill>
              <a:srgbClr val="104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4882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CDDA6"/>
                </a:solidFill>
                <a:latin typeface="Aptos"/>
              </a:rPr>
              <a:t>SAFE TO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D3E1"/>
                </a:solidFill>
                <a:latin typeface="Aptos"/>
              </a:rPr>
              <a:t>PROOF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Innovation with defensible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65392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FB2C4"/>
                </a:solidFill>
                <a:latin typeface="Aptos"/>
              </a:rPr>
              <a:t>SIH26155 · NTRO · NetAudit Team · github.com/arc-1103/NetAuditor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CD3E1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881360" cy="585216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35607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7FB"/>
                </a:solidFill>
                <a:latin typeface="Aptos"/>
              </a:rPr>
              <a:t>AI / rules separation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35607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Schema gate + OPA-only verdicts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1408176"/>
            <a:ext cx="3840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CDDA6"/>
                </a:solidFill>
                <a:latin typeface="Aptos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29967"/>
            <a:ext cx="10881360" cy="585216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85415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7FB"/>
                </a:solidFill>
                <a:latin typeface="Aptos"/>
              </a:rPr>
              <a:t>Unknown-vendor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185415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Admin-reviewed mapping and RAG APIs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2157984"/>
            <a:ext cx="3840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CDDA6"/>
                </a:solidFill>
                <a:latin typeface="Aptos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79776"/>
            <a:ext cx="10881360" cy="585216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352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7FB"/>
                </a:solidFill>
                <a:latin typeface="Aptos"/>
              </a:rPr>
              <a:t>Safe remediation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935224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Provenance + preflight +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2907792"/>
            <a:ext cx="3840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CDDA6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529584"/>
            <a:ext cx="10881360" cy="585216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6850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7FB"/>
                </a:solidFill>
                <a:latin typeface="Aptos"/>
              </a:rPr>
              <a:t>Audit-ready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685032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Evidence + versioned policy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3657600"/>
            <a:ext cx="3840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CDDA6"/>
                </a:solidFill>
                <a:latin typeface="Aptos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79392"/>
            <a:ext cx="10881360" cy="585216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7FB"/>
                </a:solidFill>
                <a:latin typeface="Aptos"/>
              </a:rPr>
              <a:t>Sovereign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34840"/>
            <a:ext cx="6309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2C4"/>
                </a:solidFill>
                <a:latin typeface="Aptos"/>
              </a:rPr>
              <a:t>No cloud dependency at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4407407"/>
            <a:ext cx="3840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CDDA6"/>
                </a:solidFill>
                <a:latin typeface="Aptos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03520"/>
            <a:ext cx="10881360" cy="621792"/>
          </a:xfrm>
          <a:prstGeom prst="roundRect">
            <a:avLst/>
          </a:prstGeom>
          <a:solidFill>
            <a:srgbClr val="392B11"/>
          </a:solidFill>
          <a:ln>
            <a:solidFill>
              <a:srgbClr val="392B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77256"/>
            <a:ext cx="10332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6BE41"/>
                </a:solidFill>
                <a:latin typeface="Aptos"/>
              </a:rPr>
              <a:t>TODAY: 5-vendor synthetic parsing corpus · single-file UI · 11-control bundle · not certification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D3E1"/>
                </a:solidFill>
                <a:latin typeface="Aptos"/>
              </a:rPr>
              <a:t>SCALE PATH AND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1F7FB"/>
                </a:solidFill>
                <a:latin typeface="Aptos"/>
              </a:rPr>
              <a:t>From prototype to controlled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65392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FB2C4"/>
                </a:solidFill>
                <a:latin typeface="Aptos"/>
              </a:rPr>
              <a:t>SIH26155 · NTRO · NetAudit Team · github.com/arc-1103/NetAuditor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510528"/>
            <a:ext cx="502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CD3E1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3401568" cy="196596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64208"/>
            <a:ext cx="2944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D3E1"/>
                </a:solidFill>
                <a:latin typeface="Aptos"/>
              </a:rPr>
              <a:t>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48840"/>
            <a:ext cx="29443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Bulk ingestion</a:t>
            </a:r>
            <a:br/>
            <a:r>
              <a:t>Real-device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371600"/>
            <a:ext cx="3401568" cy="196596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4296" y="1664208"/>
            <a:ext cx="2944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D3E1"/>
                </a:solidFill>
                <a:latin typeface="Aptos"/>
              </a:rPr>
              <a:t>60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2148840"/>
            <a:ext cx="29443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Authorized framework bundles</a:t>
            </a:r>
            <a:br/>
            <a:r>
              <a:t>Learning-queue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371600"/>
            <a:ext cx="3401568" cy="1965960"/>
          </a:xfrm>
          <a:prstGeom prst="roundRect">
            <a:avLst/>
          </a:prstGeom>
          <a:solidFill>
            <a:srgbClr val="0F2237"/>
          </a:solidFill>
          <a:ln>
            <a:solidFill>
              <a:srgbClr val="0F22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21624" y="1664208"/>
            <a:ext cx="2944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D3E1"/>
                </a:solidFill>
                <a:latin typeface="Aptos"/>
              </a:rPr>
              <a:t>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2148840"/>
            <a:ext cx="29443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1F7FB"/>
                </a:solidFill>
                <a:latin typeface="Aptos"/>
              </a:rPr>
              <a:t>Sanitized pilot</a:t>
            </a:r>
            <a:br/>
            <a:r>
              <a:t>Precision + time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794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4CDDA6"/>
                </a:solidFill>
                <a:latin typeface="Aptos"/>
              </a:rPr>
              <a:t>One explainable workflow · Less manual effort · Faster evidence · Safer change preparation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17720"/>
            <a:ext cx="9509760" cy="960120"/>
          </a:xfrm>
          <a:prstGeom prst="roundRect">
            <a:avLst/>
          </a:prstGeom>
          <a:solidFill>
            <a:srgbClr val="0B313C"/>
          </a:solidFill>
          <a:ln>
            <a:solidFill>
              <a:srgbClr val="0B31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4828032"/>
            <a:ext cx="8961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1F7FB"/>
                </a:solidFill>
                <a:latin typeface="Aptos"/>
              </a:rPr>
              <a:t>ASK  ·  Sanitized configurations  ·  Framework SMEs  ·  Controlled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5212080"/>
            <a:ext cx="8961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2C4"/>
                </a:solidFill>
                <a:latin typeface="Aptos"/>
              </a:rPr>
              <a:t>github.com/arc-1103/NetAuditor  ·  Manav Mishra  ·  manavmishra260205@gmail.com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